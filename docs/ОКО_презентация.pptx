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08" r:id="rId75"/>
    <p:sldId id="309" r:id="rId76"/>
    <p:sldId id="310" r:id="rId77"/>
    <p:sldId id="311" r:id="rId78"/>
    <p:sldId id="312" r:id="rId79"/>
    <p:sldId id="313" r:id="rId80"/>
  </p:sldIdLst>
  <p:sldSz cy="6858000" cx="12192000"/>
  <p:notesSz cx="6858000" cy="9144000"/>
  <p:embeddedFontLst>
    <p:embeddedFont>
      <p:font typeface="Montserrat"/>
      <p:regular r:id="rId43"/>
      <p:bold r:id="rId44"/>
      <p:italic r:id="rId45"/>
      <p:boldItalic r:id="rId46"/>
    </p:embeddedFont>
    <p:embeddedFont>
      <p:font typeface="Montserrat Medium"/>
      <p:regular r:id="rId47"/>
      <p:bold r:id="rId48"/>
      <p:italic r:id="rId49"/>
      <p:boldItalic r:id="rId50"/>
    </p:embeddedFont>
    <p:embeddedFont>
      <p:font typeface="Lato Light"/>
      <p:regular r:id="rId51"/>
      <p:bold r:id="rId52"/>
      <p:italic r:id="rId53"/>
      <p:boldItalic r:id="rId54"/>
    </p:embeddedFont>
    <p:embeddedFont>
      <p:font typeface="Poppins Light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jXA+t8oVXkjA8ocTCqZnn5fhGB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3" Type="http://schemas.openxmlformats.org/officeDocument/2006/relationships/font" Target="fonts/Montserrat-regular.fntdata"/><Relationship Id="rId44" Type="http://schemas.openxmlformats.org/officeDocument/2006/relationships/font" Target="fonts/Montserrat-bold.fntdata"/><Relationship Id="rId45" Type="http://schemas.openxmlformats.org/officeDocument/2006/relationships/font" Target="fonts/Montserrat-italic.fntdata"/><Relationship Id="rId46" Type="http://schemas.openxmlformats.org/officeDocument/2006/relationships/font" Target="fonts/Montserrat-boldItalic.fntdata"/><Relationship Id="rId47" Type="http://schemas.openxmlformats.org/officeDocument/2006/relationships/font" Target="fonts/MontserratMedium-regular.fntdata"/><Relationship Id="rId48" Type="http://schemas.openxmlformats.org/officeDocument/2006/relationships/font" Target="fonts/MontserratMedium-bold.fntdata"/><Relationship Id="rId49" Type="http://schemas.openxmlformats.org/officeDocument/2006/relationships/font" Target="fonts/MontserratMedium-italic.fntdata"/><Relationship Id="rId50" Type="http://schemas.openxmlformats.org/officeDocument/2006/relationships/font" Target="fonts/MontserratMedium-boldItalic.fntdata"/><Relationship Id="rId51" Type="http://schemas.openxmlformats.org/officeDocument/2006/relationships/font" Target="fonts/LatoLight-regular.fntdata"/><Relationship Id="rId52" Type="http://schemas.openxmlformats.org/officeDocument/2006/relationships/font" Target="fonts/LatoLight-bold.fntdata"/><Relationship Id="rId53" Type="http://schemas.openxmlformats.org/officeDocument/2006/relationships/font" Target="fonts/LatoLight-italic.fntdata"/><Relationship Id="rId54" Type="http://schemas.openxmlformats.org/officeDocument/2006/relationships/font" Target="fonts/LatoLight-boldItalic.fntdata"/><Relationship Id="rId55" Type="http://schemas.openxmlformats.org/officeDocument/2006/relationships/font" Target="fonts/PoppinsLight-regular.fntdata"/><Relationship Id="rId56" Type="http://schemas.openxmlformats.org/officeDocument/2006/relationships/font" Target="fonts/PoppinsLight-bold.fntdata"/><Relationship Id="rId57" Type="http://schemas.openxmlformats.org/officeDocument/2006/relationships/font" Target="fonts/PoppinsLight-italic.fntdata"/><Relationship Id="rId58" Type="http://schemas.openxmlformats.org/officeDocument/2006/relationships/font" Target="fonts/PoppinsLight-boldItalic.fntdata"/><Relationship Id="rId59" Type="http://customschemas.google.com/relationships/presentationmetadata" Target="metadata"/><Relationship Id="rId60" Type="http://schemas.openxmlformats.org/officeDocument/2006/relationships/slide" Target="slides/slide1.xml"/><Relationship Id="rId61" Type="http://schemas.openxmlformats.org/officeDocument/2006/relationships/slide" Target="slides/slide2.xml"/><Relationship Id="rId62" Type="http://schemas.openxmlformats.org/officeDocument/2006/relationships/slide" Target="slides/slide3.xml"/><Relationship Id="rId63" Type="http://schemas.openxmlformats.org/officeDocument/2006/relationships/slide" Target="slides/slide4.xml"/><Relationship Id="rId64" Type="http://schemas.openxmlformats.org/officeDocument/2006/relationships/slide" Target="slides/slide5.xml"/><Relationship Id="rId65" Type="http://schemas.openxmlformats.org/officeDocument/2006/relationships/slide" Target="slides/slide6.xml"/><Relationship Id="rId66" Type="http://schemas.openxmlformats.org/officeDocument/2006/relationships/slide" Target="slides/slide7.xml"/><Relationship Id="rId67" Type="http://schemas.openxmlformats.org/officeDocument/2006/relationships/slide" Target="slides/slide8.xml"/><Relationship Id="rId68" Type="http://schemas.openxmlformats.org/officeDocument/2006/relationships/slide" Target="slides/slide9.xml"/><Relationship Id="rId69" Type="http://schemas.openxmlformats.org/officeDocument/2006/relationships/slide" Target="slides/slide10.xml"/><Relationship Id="rId70" Type="http://schemas.openxmlformats.org/officeDocument/2006/relationships/slide" Target="slides/slide11.xml"/><Relationship Id="rId71" Type="http://schemas.openxmlformats.org/officeDocument/2006/relationships/slide" Target="slides/slide12.xml"/><Relationship Id="rId72" Type="http://schemas.openxmlformats.org/officeDocument/2006/relationships/slide" Target="slides/slide13.xml"/><Relationship Id="rId73" Type="http://schemas.openxmlformats.org/officeDocument/2006/relationships/slide" Target="slides/slide14.xml"/><Relationship Id="rId74" Type="http://schemas.openxmlformats.org/officeDocument/2006/relationships/slide" Target="slides/slide15.xml"/><Relationship Id="rId75" Type="http://schemas.openxmlformats.org/officeDocument/2006/relationships/slide" Target="slides/slide16.xml"/><Relationship Id="rId76" Type="http://schemas.openxmlformats.org/officeDocument/2006/relationships/slide" Target="slides/slide17.xml"/><Relationship Id="rId77" Type="http://schemas.openxmlformats.org/officeDocument/2006/relationships/slide" Target="slides/slide18.xml"/><Relationship Id="rId78" Type="http://schemas.openxmlformats.org/officeDocument/2006/relationships/slide" Target="slides/slide19.xml"/><Relationship Id="rId79" Type="http://schemas.openxmlformats.org/officeDocument/2006/relationships/slide" Target="slides/slide20.xml"/><Relationship Id="rId80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ошибка по кадрам, п.п.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video1</c:v>
                </c:pt>
                <c:pt idx="1">
                  <c:v>video2</c:v>
                </c:pt>
                <c:pt idx="2">
                  <c:v>video3</c:v>
                </c:pt>
                <c:pt idx="3">
                  <c:v>video4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</c:v>
                </c:pt>
                <c:pt idx="1">
                  <c:v>1.3</c:v>
                </c:pt>
                <c:pt idx="2">
                  <c:v>1.4</c:v>
                </c:pt>
                <c:pt idx="3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ошибка итога, п.п.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video1</c:v>
                </c:pt>
                <c:pt idx="1">
                  <c:v>video2</c:v>
                </c:pt>
                <c:pt idx="2">
                  <c:v>video3</c:v>
                </c:pt>
                <c:pt idx="3">
                  <c:v>video4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1.1</c:v>
                </c:pt>
                <c:pt idx="2">
                  <c:v>1.0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ОКО — сервис, который по снимкам камер находит технику, сверяет её с календарным графиком и выдаёт предупреждения с доказательствами. Задача Департамента градостроительной политики.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Блок «О команде» заполняет команда: капитан, участники, город.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Ключевой слайд: как снимок связывается с этапом календарного графика.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type="ctrTitle"/>
          </p:nvPr>
        </p:nvSpPr>
        <p:spPr>
          <a:xfrm>
            <a:off x="802640" y="3922529"/>
            <a:ext cx="5293359" cy="1654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 заголовком">
  <p:cSld name="Пустой с заголовком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">
  <p:cSld name="Команда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" name="Google Shape;28;p41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2" type="body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3" type="body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4" type="body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idx="5" type="body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2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2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2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писание команды">
  <p:cSld name="1_Описание команды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/>
          <p:nvPr>
            <p:ph idx="2" type="pic"/>
          </p:nvPr>
        </p:nvSpPr>
        <p:spPr>
          <a:xfrm>
            <a:off x="6894095" y="1044081"/>
            <a:ext cx="4962943" cy="2221824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43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держание_1">
  <p:cSld name="Содержание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873541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2" type="body"/>
          </p:nvPr>
        </p:nvSpPr>
        <p:spPr>
          <a:xfrm>
            <a:off x="1873544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3" type="body"/>
          </p:nvPr>
        </p:nvSpPr>
        <p:spPr>
          <a:xfrm>
            <a:off x="1854185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4" type="body"/>
          </p:nvPr>
        </p:nvSpPr>
        <p:spPr>
          <a:xfrm>
            <a:off x="1854185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5" type="body"/>
          </p:nvPr>
        </p:nvSpPr>
        <p:spPr>
          <a:xfrm>
            <a:off x="1854185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6" type="body"/>
          </p:nvPr>
        </p:nvSpPr>
        <p:spPr>
          <a:xfrm>
            <a:off x="1854185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7" type="body"/>
          </p:nvPr>
        </p:nvSpPr>
        <p:spPr>
          <a:xfrm>
            <a:off x="7546648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8" type="body"/>
          </p:nvPr>
        </p:nvSpPr>
        <p:spPr>
          <a:xfrm>
            <a:off x="7546651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9" type="body"/>
          </p:nvPr>
        </p:nvSpPr>
        <p:spPr>
          <a:xfrm>
            <a:off x="7527292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3" type="body"/>
          </p:nvPr>
        </p:nvSpPr>
        <p:spPr>
          <a:xfrm>
            <a:off x="7527292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4" type="body"/>
          </p:nvPr>
        </p:nvSpPr>
        <p:spPr>
          <a:xfrm>
            <a:off x="7527292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15" type="body"/>
          </p:nvPr>
        </p:nvSpPr>
        <p:spPr>
          <a:xfrm>
            <a:off x="7527292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44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6" type="body"/>
          </p:nvPr>
        </p:nvSpPr>
        <p:spPr>
          <a:xfrm>
            <a:off x="778493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7" type="body"/>
          </p:nvPr>
        </p:nvSpPr>
        <p:spPr>
          <a:xfrm>
            <a:off x="759137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44"/>
          <p:cNvSpPr txBox="1"/>
          <p:nvPr>
            <p:ph idx="18" type="body"/>
          </p:nvPr>
        </p:nvSpPr>
        <p:spPr>
          <a:xfrm>
            <a:off x="759137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44"/>
          <p:cNvSpPr txBox="1"/>
          <p:nvPr>
            <p:ph idx="19" type="body"/>
          </p:nvPr>
        </p:nvSpPr>
        <p:spPr>
          <a:xfrm>
            <a:off x="6451600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20" type="body"/>
          </p:nvPr>
        </p:nvSpPr>
        <p:spPr>
          <a:xfrm>
            <a:off x="6432244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21" type="body"/>
          </p:nvPr>
        </p:nvSpPr>
        <p:spPr>
          <a:xfrm>
            <a:off x="6432244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Char char="•"/>
              <a:defRPr>
                <a:solidFill>
                  <a:srgbClr val="F2F2F2"/>
                </a:solidFill>
              </a:defRPr>
            </a:lvl1pPr>
            <a:lvl2pPr indent="-309309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Char char="•"/>
              <a:defRPr>
                <a:solidFill>
                  <a:srgbClr val="F2F2F2"/>
                </a:solidFill>
              </a:defRPr>
            </a:lvl2pPr>
            <a:lvl3pPr indent="-29191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Char char="•"/>
              <a:defRPr>
                <a:solidFill>
                  <a:srgbClr val="F2F2F2"/>
                </a:solidFill>
              </a:defRPr>
            </a:lvl3pPr>
            <a:lvl4pPr indent="-286195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4pPr>
            <a:lvl5pPr indent="-286195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0" name="Google Shape;70;p45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и">
  <p:cSld name="Фотографии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5" name="Google Shape;75;p46"/>
          <p:cNvSpPr txBox="1"/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/>
          <p:nvPr>
            <p:ph idx="2" type="pic"/>
          </p:nvPr>
        </p:nvSpPr>
        <p:spPr>
          <a:xfrm>
            <a:off x="7440147" y="1016001"/>
            <a:ext cx="4405777" cy="3078479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6"/>
          <p:cNvSpPr/>
          <p:nvPr>
            <p:ph idx="3" type="pic"/>
          </p:nvPr>
        </p:nvSpPr>
        <p:spPr>
          <a:xfrm>
            <a:off x="7440149" y="4389108"/>
            <a:ext cx="4405775" cy="1811668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46"/>
          <p:cNvSpPr/>
          <p:nvPr>
            <p:ph idx="4" type="pic"/>
          </p:nvPr>
        </p:nvSpPr>
        <p:spPr>
          <a:xfrm>
            <a:off x="346075" y="3223948"/>
            <a:ext cx="6806142" cy="2976827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46"/>
          <p:cNvSpPr txBox="1"/>
          <p:nvPr>
            <p:ph idx="1" type="body"/>
          </p:nvPr>
        </p:nvSpPr>
        <p:spPr>
          <a:xfrm>
            <a:off x="346075" y="1016001"/>
            <a:ext cx="6806142" cy="2029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7"/>
          <p:cNvSpPr txBox="1"/>
          <p:nvPr>
            <p:ph idx="1" type="body"/>
          </p:nvPr>
        </p:nvSpPr>
        <p:spPr>
          <a:xfrm>
            <a:off x="1994303" y="2973742"/>
            <a:ext cx="2190810" cy="910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2" type="body"/>
          </p:nvPr>
        </p:nvSpPr>
        <p:spPr>
          <a:xfrm>
            <a:off x="6662924" y="158812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7"/>
          <p:cNvSpPr txBox="1"/>
          <p:nvPr>
            <p:ph idx="3" type="body"/>
          </p:nvPr>
        </p:nvSpPr>
        <p:spPr>
          <a:xfrm>
            <a:off x="6662924" y="244513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47"/>
          <p:cNvSpPr txBox="1"/>
          <p:nvPr>
            <p:ph idx="4" type="body"/>
          </p:nvPr>
        </p:nvSpPr>
        <p:spPr>
          <a:xfrm>
            <a:off x="6662924" y="3302147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47"/>
          <p:cNvSpPr txBox="1"/>
          <p:nvPr>
            <p:ph idx="5" type="body"/>
          </p:nvPr>
        </p:nvSpPr>
        <p:spPr>
          <a:xfrm>
            <a:off x="6662924" y="415915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47"/>
          <p:cNvSpPr txBox="1"/>
          <p:nvPr>
            <p:ph idx="6" type="body"/>
          </p:nvPr>
        </p:nvSpPr>
        <p:spPr>
          <a:xfrm>
            <a:off x="6662924" y="501616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тистика">
  <p:cSld name="Статистика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4" name="Google Shape;94;p48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8"/>
          <p:cNvSpPr/>
          <p:nvPr>
            <p:ph idx="1" type="body"/>
          </p:nvPr>
        </p:nvSpPr>
        <p:spPr>
          <a:xfrm>
            <a:off x="6683077" y="1026867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8"/>
          <p:cNvSpPr txBox="1"/>
          <p:nvPr>
            <p:ph idx="2" type="body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8"/>
          <p:cNvSpPr/>
          <p:nvPr>
            <p:ph idx="3" type="body"/>
          </p:nvPr>
        </p:nvSpPr>
        <p:spPr>
          <a:xfrm>
            <a:off x="6683077" y="2807582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48"/>
          <p:cNvSpPr txBox="1"/>
          <p:nvPr>
            <p:ph idx="4" type="body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8"/>
          <p:cNvSpPr/>
          <p:nvPr>
            <p:ph idx="5" type="body"/>
          </p:nvPr>
        </p:nvSpPr>
        <p:spPr>
          <a:xfrm>
            <a:off x="6683077" y="4584029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8"/>
          <p:cNvSpPr txBox="1"/>
          <p:nvPr>
            <p:ph idx="6" type="body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татистика">
  <p:cSld name="2_Статистика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5" name="Google Shape;105;p49"/>
          <p:cNvSpPr txBox="1"/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9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9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49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49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49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9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49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49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татистика">
  <p:cSld name="1_Статистика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8" name="Google Shape;118;p50"/>
          <p:cNvSpPr txBox="1"/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0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50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50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50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50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50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50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50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блема и решение">
  <p:cSld name="Проблема и решение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1" name="Google Shape;131;p51"/>
          <p:cNvSpPr txBox="1"/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1"/>
          <p:cNvSpPr/>
          <p:nvPr>
            <p:ph idx="1" type="body"/>
          </p:nvPr>
        </p:nvSpPr>
        <p:spPr>
          <a:xfrm>
            <a:off x="517027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51"/>
          <p:cNvSpPr/>
          <p:nvPr>
            <p:ph idx="2" type="body"/>
          </p:nvPr>
        </p:nvSpPr>
        <p:spPr>
          <a:xfrm>
            <a:off x="4464542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51"/>
          <p:cNvSpPr/>
          <p:nvPr>
            <p:ph idx="3" type="body"/>
          </p:nvPr>
        </p:nvSpPr>
        <p:spPr>
          <a:xfrm>
            <a:off x="8385481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51"/>
          <p:cNvSpPr/>
          <p:nvPr>
            <p:ph idx="4" type="body"/>
          </p:nvPr>
        </p:nvSpPr>
        <p:spPr>
          <a:xfrm>
            <a:off x="517027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51"/>
          <p:cNvSpPr/>
          <p:nvPr>
            <p:ph idx="5" type="body"/>
          </p:nvPr>
        </p:nvSpPr>
        <p:spPr>
          <a:xfrm>
            <a:off x="4464542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51"/>
          <p:cNvSpPr/>
          <p:nvPr>
            <p:ph idx="6" type="body"/>
          </p:nvPr>
        </p:nvSpPr>
        <p:spPr>
          <a:xfrm>
            <a:off x="8385481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дии">
  <p:cSld name="Стадии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2" name="Google Shape;142;p52"/>
          <p:cNvSpPr/>
          <p:nvPr>
            <p:ph idx="1" type="body"/>
          </p:nvPr>
        </p:nvSpPr>
        <p:spPr>
          <a:xfrm>
            <a:off x="346075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52"/>
          <p:cNvSpPr txBox="1"/>
          <p:nvPr>
            <p:ph idx="2" type="body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52"/>
          <p:cNvSpPr/>
          <p:nvPr>
            <p:ph idx="3" type="body"/>
          </p:nvPr>
        </p:nvSpPr>
        <p:spPr>
          <a:xfrm>
            <a:off x="4832960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52"/>
          <p:cNvSpPr txBox="1"/>
          <p:nvPr>
            <p:ph idx="4" type="body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52"/>
          <p:cNvSpPr/>
          <p:nvPr>
            <p:ph idx="5" type="body"/>
          </p:nvPr>
        </p:nvSpPr>
        <p:spPr>
          <a:xfrm>
            <a:off x="9330862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52"/>
          <p:cNvSpPr txBox="1"/>
          <p:nvPr>
            <p:ph idx="6" type="body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52"/>
          <p:cNvSpPr/>
          <p:nvPr>
            <p:ph idx="7" type="body"/>
          </p:nvPr>
        </p:nvSpPr>
        <p:spPr>
          <a:xfrm>
            <a:off x="2593517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52"/>
          <p:cNvSpPr txBox="1"/>
          <p:nvPr>
            <p:ph idx="8" type="body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52"/>
          <p:cNvSpPr/>
          <p:nvPr>
            <p:ph idx="9" type="body"/>
          </p:nvPr>
        </p:nvSpPr>
        <p:spPr>
          <a:xfrm>
            <a:off x="7080402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52"/>
          <p:cNvSpPr txBox="1"/>
          <p:nvPr>
            <p:ph idx="13" type="body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52"/>
          <p:cNvSpPr txBox="1"/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_1">
  <p:cSld name="Демо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3"/>
          <p:cNvSpPr/>
          <p:nvPr>
            <p:ph idx="2" type="pic"/>
          </p:nvPr>
        </p:nvSpPr>
        <p:spPr>
          <a:xfrm>
            <a:off x="4162940" y="1264478"/>
            <a:ext cx="3866121" cy="2436377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5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8" name="Google Shape;158;p53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3"/>
          <p:cNvSpPr txBox="1"/>
          <p:nvPr>
            <p:ph idx="1" type="body"/>
          </p:nvPr>
        </p:nvSpPr>
        <p:spPr>
          <a:xfrm>
            <a:off x="346075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53"/>
          <p:cNvSpPr txBox="1"/>
          <p:nvPr>
            <p:ph idx="3" type="body"/>
          </p:nvPr>
        </p:nvSpPr>
        <p:spPr>
          <a:xfrm>
            <a:off x="4240502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53"/>
          <p:cNvSpPr txBox="1"/>
          <p:nvPr>
            <p:ph idx="4" type="body"/>
          </p:nvPr>
        </p:nvSpPr>
        <p:spPr>
          <a:xfrm>
            <a:off x="8230203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емо_1">
  <p:cSld name="1_Демо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6" name="Google Shape;166;p54"/>
          <p:cNvSpPr txBox="1"/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54"/>
          <p:cNvSpPr txBox="1"/>
          <p:nvPr>
            <p:ph idx="1" type="body"/>
          </p:nvPr>
        </p:nvSpPr>
        <p:spPr>
          <a:xfrm>
            <a:off x="1210643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54"/>
          <p:cNvSpPr txBox="1"/>
          <p:nvPr>
            <p:ph idx="2" type="body"/>
          </p:nvPr>
        </p:nvSpPr>
        <p:spPr>
          <a:xfrm>
            <a:off x="6857950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54"/>
          <p:cNvSpPr/>
          <p:nvPr>
            <p:ph idx="3" type="pic"/>
          </p:nvPr>
        </p:nvSpPr>
        <p:spPr>
          <a:xfrm>
            <a:off x="1210642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54"/>
          <p:cNvSpPr/>
          <p:nvPr>
            <p:ph idx="4" type="pic"/>
          </p:nvPr>
        </p:nvSpPr>
        <p:spPr>
          <a:xfrm>
            <a:off x="6855540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емо_1">
  <p:cSld name="2_Демо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5"/>
          <p:cNvSpPr/>
          <p:nvPr>
            <p:ph idx="2" type="pic"/>
          </p:nvPr>
        </p:nvSpPr>
        <p:spPr>
          <a:xfrm>
            <a:off x="5009872" y="1235915"/>
            <a:ext cx="2172255" cy="4602697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73" name="Google Shape;173;p55"/>
          <p:cNvSpPr/>
          <p:nvPr>
            <p:ph idx="1" type="body"/>
          </p:nvPr>
        </p:nvSpPr>
        <p:spPr>
          <a:xfrm>
            <a:off x="356349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55"/>
          <p:cNvSpPr txBox="1"/>
          <p:nvPr>
            <p:ph idx="3" type="body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55"/>
          <p:cNvSpPr/>
          <p:nvPr>
            <p:ph idx="4" type="body"/>
          </p:nvPr>
        </p:nvSpPr>
        <p:spPr>
          <a:xfrm>
            <a:off x="8040021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E4B4FB"/>
              </a:buClr>
              <a:buSzPts val="1800"/>
              <a:buChar char="•"/>
              <a:defRPr b="1" sz="1800">
                <a:solidFill>
                  <a:srgbClr val="E4B4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55"/>
          <p:cNvSpPr txBox="1"/>
          <p:nvPr>
            <p:ph idx="5" type="body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55"/>
          <p:cNvSpPr/>
          <p:nvPr>
            <p:ph idx="6" type="body"/>
          </p:nvPr>
        </p:nvSpPr>
        <p:spPr>
          <a:xfrm>
            <a:off x="356349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55"/>
          <p:cNvSpPr txBox="1"/>
          <p:nvPr>
            <p:ph idx="7" type="body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55"/>
          <p:cNvSpPr/>
          <p:nvPr>
            <p:ph idx="8" type="body"/>
          </p:nvPr>
        </p:nvSpPr>
        <p:spPr>
          <a:xfrm>
            <a:off x="8040021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55"/>
          <p:cNvSpPr txBox="1"/>
          <p:nvPr>
            <p:ph idx="9" type="body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81" name="Google Shape;181;p55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55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55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rgbClr val="E4B4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55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55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емо_1">
  <p:cSld name="3_Демо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6"/>
          <p:cNvSpPr/>
          <p:nvPr>
            <p:ph idx="2" type="pic"/>
          </p:nvPr>
        </p:nvSpPr>
        <p:spPr>
          <a:xfrm>
            <a:off x="1001460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91" name="Google Shape;191;p56"/>
          <p:cNvSpPr/>
          <p:nvPr>
            <p:ph idx="3" type="pic"/>
          </p:nvPr>
        </p:nvSpPr>
        <p:spPr>
          <a:xfrm>
            <a:off x="3831097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92" name="Google Shape;192;p56"/>
          <p:cNvSpPr/>
          <p:nvPr>
            <p:ph idx="4" type="pic"/>
          </p:nvPr>
        </p:nvSpPr>
        <p:spPr>
          <a:xfrm>
            <a:off x="6660734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93" name="Google Shape;193;p56"/>
          <p:cNvSpPr/>
          <p:nvPr>
            <p:ph idx="5" type="pic"/>
          </p:nvPr>
        </p:nvSpPr>
        <p:spPr>
          <a:xfrm>
            <a:off x="9490368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94" name="Google Shape;194;p5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5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5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7" name="Google Shape;197;p56"/>
          <p:cNvSpPr txBox="1"/>
          <p:nvPr>
            <p:ph idx="1" type="body"/>
          </p:nvPr>
        </p:nvSpPr>
        <p:spPr>
          <a:xfrm>
            <a:off x="346076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56"/>
          <p:cNvSpPr txBox="1"/>
          <p:nvPr>
            <p:ph idx="6" type="body"/>
          </p:nvPr>
        </p:nvSpPr>
        <p:spPr>
          <a:xfrm>
            <a:off x="3269562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56"/>
          <p:cNvSpPr txBox="1"/>
          <p:nvPr>
            <p:ph idx="7" type="body"/>
          </p:nvPr>
        </p:nvSpPr>
        <p:spPr>
          <a:xfrm>
            <a:off x="6193048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56"/>
          <p:cNvSpPr txBox="1"/>
          <p:nvPr>
            <p:ph idx="8" type="body"/>
          </p:nvPr>
        </p:nvSpPr>
        <p:spPr>
          <a:xfrm>
            <a:off x="9116535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56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7"/>
          <p:cNvSpPr txBox="1"/>
          <p:nvPr>
            <p:ph idx="1" type="body"/>
          </p:nvPr>
        </p:nvSpPr>
        <p:spPr>
          <a:xfrm>
            <a:off x="315387" y="1016001"/>
            <a:ext cx="5704418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57"/>
          <p:cNvSpPr txBox="1"/>
          <p:nvPr>
            <p:ph idx="2" type="body"/>
          </p:nvPr>
        </p:nvSpPr>
        <p:spPr>
          <a:xfrm>
            <a:off x="6172206" y="1016001"/>
            <a:ext cx="5670473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5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8" name="Google Shape;208;p57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8"/>
          <p:cNvSpPr txBox="1"/>
          <p:nvPr>
            <p:ph idx="1" type="body"/>
          </p:nvPr>
        </p:nvSpPr>
        <p:spPr>
          <a:xfrm>
            <a:off x="315386" y="1015427"/>
            <a:ext cx="56821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211" name="Google Shape;211;p58"/>
          <p:cNvSpPr txBox="1"/>
          <p:nvPr>
            <p:ph idx="2" type="body"/>
          </p:nvPr>
        </p:nvSpPr>
        <p:spPr>
          <a:xfrm>
            <a:off x="349334" y="1598615"/>
            <a:ext cx="5648250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58"/>
          <p:cNvSpPr txBox="1"/>
          <p:nvPr>
            <p:ph idx="3" type="body"/>
          </p:nvPr>
        </p:nvSpPr>
        <p:spPr>
          <a:xfrm>
            <a:off x="6172205" y="1015427"/>
            <a:ext cx="56848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213" name="Google Shape;213;p58"/>
          <p:cNvSpPr txBox="1"/>
          <p:nvPr>
            <p:ph idx="4" type="body"/>
          </p:nvPr>
        </p:nvSpPr>
        <p:spPr>
          <a:xfrm>
            <a:off x="6172202" y="1598615"/>
            <a:ext cx="5670473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5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7" name="Google Shape;217;p58"/>
          <p:cNvSpPr txBox="1"/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0"/>
          <p:cNvSpPr txBox="1"/>
          <p:nvPr>
            <p:ph type="title"/>
          </p:nvPr>
        </p:nvSpPr>
        <p:spPr>
          <a:xfrm>
            <a:off x="334966" y="1015999"/>
            <a:ext cx="4437062" cy="1213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60"/>
          <p:cNvSpPr txBox="1"/>
          <p:nvPr>
            <p:ph idx="1" type="body"/>
          </p:nvPr>
        </p:nvSpPr>
        <p:spPr>
          <a:xfrm>
            <a:off x="5183194" y="1015999"/>
            <a:ext cx="6673847" cy="5049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1186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773"/>
              <a:buChar char="•"/>
              <a:defRPr sz="1773"/>
            </a:lvl1pPr>
            <a:lvl2pPr indent="-32512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520"/>
              <a:buChar char="•"/>
              <a:defRPr sz="1520"/>
            </a:lvl2pPr>
            <a:lvl3pPr indent="-308991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Char char="•"/>
              <a:defRPr sz="1266"/>
            </a:lvl3pPr>
            <a:lvl4pPr indent="-30105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4pPr>
            <a:lvl5pPr indent="-30105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5pPr>
            <a:lvl6pPr indent="-308991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6pPr>
            <a:lvl7pPr indent="-308991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7pPr>
            <a:lvl8pPr indent="-308991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8pPr>
            <a:lvl9pPr indent="-308991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9pPr>
          </a:lstStyle>
          <a:p/>
        </p:txBody>
      </p:sp>
      <p:sp>
        <p:nvSpPr>
          <p:cNvPr id="225" name="Google Shape;225;p60"/>
          <p:cNvSpPr txBox="1"/>
          <p:nvPr>
            <p:ph idx="2" type="body"/>
          </p:nvPr>
        </p:nvSpPr>
        <p:spPr>
          <a:xfrm>
            <a:off x="334966" y="2428239"/>
            <a:ext cx="4437062" cy="363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886"/>
              <a:buNone/>
              <a:defRPr sz="88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760"/>
              <a:buNone/>
              <a:defRPr sz="760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9pPr>
          </a:lstStyle>
          <a:p/>
        </p:txBody>
      </p:sp>
      <p:sp>
        <p:nvSpPr>
          <p:cNvPr id="226" name="Google Shape;226;p6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6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6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 b="1" i="0" sz="1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Font typeface="Arial"/>
              <a:buChar char="•"/>
              <a:defRPr b="0" i="0" sz="1452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9309" lvl="1" marL="914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Font typeface="Arial"/>
              <a:buChar char="•"/>
              <a:defRPr b="0" i="0" sz="1271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1910" lvl="2" marL="1371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Font typeface="Arial"/>
              <a:buChar char="•"/>
              <a:defRPr b="0" i="0" sz="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6195" lvl="3" marL="1828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6195" lvl="4" marL="22860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1054" lvl="5" marL="27432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1054" lvl="6" marL="3200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1053" lvl="7" marL="3657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1053" lvl="8" marL="4114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56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218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49">
          <p15:clr>
            <a:srgbClr val="F26B43"/>
          </p15:clr>
        </p15:guide>
        <p15:guide id="6" orient="horz" pos="4042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640">
          <p15:clr>
            <a:srgbClr val="F26B43"/>
          </p15:clr>
        </p15:guide>
        <p15:guide id="9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8.jpg"/><Relationship Id="rId10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"/>
          <p:cNvSpPr txBox="1"/>
          <p:nvPr>
            <p:ph type="ctrTitle"/>
          </p:nvPr>
        </p:nvSpPr>
        <p:spPr>
          <a:xfrm>
            <a:off x="411480" y="2834640"/>
            <a:ext cx="6949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rgbClr val="F2F2F2"/>
              </a:buClr>
              <a:buSzPts val="4800"/>
              <a:buFont typeface="Montserrat"/>
              <a:buNone/>
            </a:pPr>
            <a:r>
              <a:rPr sz="5400" b="1" i="0">
                <a:solidFill>
                  <a:srgbClr val="FFFFFF"/>
                </a:solidFill>
                <a:latin typeface="Montserrat"/>
              </a:rPr>
              <a:t>ОКО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Montserrat"/>
              </a:rPr>
              <a:t>поиск нарушений на стройплощадках по снимкам камер</a:t>
            </a:r>
          </a:p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411480" y="5349240"/>
            <a:ext cx="749807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800"/>
              <a:buNone/>
            </a:pPr>
            <a:r>
              <a:rPr sz="1300" b="0" i="0">
                <a:solidFill>
                  <a:srgbClr val="FFD6E4"/>
                </a:solidFill>
                <a:latin typeface="Montserrat"/>
              </a:rPr>
              <a:t>Автоматизированный сервис поиска нарушений на строительных площадках Москвы · задача Департамента градостроительной политики города Москвы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Команда: ОКО · Лидеры цифровой трансформации 2026</a:t>
            </a:r>
          </a:p>
        </p:txBody>
      </p:sp>
      <p:sp>
        <p:nvSpPr>
          <p:cNvPr id="353" name="Google Shape;353;p7"/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fmla="val 9821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4" name="Picture 353" descr="logo_o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777240" cy="777240"/>
          </a:xfrm>
          <a:prstGeom prst="rect">
            <a:avLst/>
          </a:prstGeom>
        </p:spPr>
      </p:pic>
      <p:sp>
        <p:nvSpPr>
          <p:cNvPr id="355" name="TextBox 354"/>
          <p:cNvSpPr txBox="1"/>
          <p:nvPr/>
        </p:nvSpPr>
        <p:spPr>
          <a:xfrm>
            <a:off x="1463040" y="502920"/>
            <a:ext cx="14630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Montserrat"/>
              </a:rPr>
              <a:t>ОКО</a:t>
            </a:r>
          </a:p>
        </p:txBody>
      </p:sp>
      <p:pic>
        <p:nvPicPr>
          <p:cNvPr id="356" name="Picture 355" descr="logo_g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621792"/>
            <a:ext cx="233635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8"/>
          <p:cNvSpPr txBox="1"/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 решения:</a:t>
            </a:r>
            <a:endParaRPr/>
          </a:p>
        </p:txBody>
      </p:sp>
      <p:sp>
        <p:nvSpPr>
          <p:cNvPr id="361" name="Google Shape;361;p8"/>
          <p:cNvSpPr txBox="1"/>
          <p:nvPr/>
        </p:nvSpPr>
        <p:spPr>
          <a:xfrm>
            <a:off x="6836606" y="4876070"/>
            <a:ext cx="494556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Методика «этап → техника» на все 377 видов работ справочника организаторов: не только «есть ли техника», но и «та ли, в паре ли, в нужном ли количестве». Каждый вывод объясним и воспроизводим.</a:t>
            </a:r>
          </a:p>
        </p:txBody>
      </p:sp>
      <p:sp>
        <p:nvSpPr>
          <p:cNvPr id="362" name="Google Shape;362;p8"/>
          <p:cNvSpPr txBox="1"/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Капитан: 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ФИО, специальность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Кол-во участников: 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 человек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описание: 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i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как образовалась команда? 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i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место работы/учебы участников?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Город и регион:</a:t>
            </a:r>
            <a:endParaRPr/>
          </a:p>
        </p:txBody>
      </p:sp>
      <p:sp>
        <p:nvSpPr>
          <p:cNvPr id="363" name="Google Shape;363;p8"/>
          <p:cNvSpPr txBox="1"/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О команде</a:t>
            </a:r>
            <a:endParaRPr/>
          </a:p>
        </p:txBody>
      </p:sp>
      <p:sp>
        <p:nvSpPr>
          <p:cNvPr id="364" name="Google Shape;364;p8"/>
          <p:cNvSpPr txBox="1"/>
          <p:nvPr>
            <p:ph type="title"/>
          </p:nvPr>
        </p:nvSpPr>
        <p:spPr>
          <a:xfrm>
            <a:off x="6819903" y="1039236"/>
            <a:ext cx="3636703" cy="1015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2400"/>
              <a:buFont typeface="Montserrat"/>
              <a:buNone/>
            </a:pPr>
            <a:r>
              <a:rPr sz="4000" b="1" i="0">
                <a:solidFill>
                  <a:srgbClr val="520978"/>
                </a:solidFill>
                <a:latin typeface="Montserrat"/>
              </a:rPr>
              <a:t>ОКО</a:t>
            </a:r>
          </a:p>
        </p:txBody>
      </p:sp>
      <p:cxnSp>
        <p:nvCxnSpPr>
          <p:cNvPr id="365" name="Google Shape;365;p8"/>
          <p:cNvCxnSpPr/>
          <p:nvPr/>
        </p:nvCxnSpPr>
        <p:spPr>
          <a:xfrm>
            <a:off x="6880774" y="2240031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6" name="Google Shape;366;p8"/>
          <p:cNvCxnSpPr/>
          <p:nvPr/>
        </p:nvCxnSpPr>
        <p:spPr>
          <a:xfrm>
            <a:off x="6897347" y="4437879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7" name="Google Shape;367;p8"/>
          <p:cNvCxnSpPr/>
          <p:nvPr/>
        </p:nvCxnSpPr>
        <p:spPr>
          <a:xfrm>
            <a:off x="395833" y="3448639"/>
            <a:ext cx="5700167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8" name="Google Shape;368;p8"/>
          <p:cNvSpPr txBox="1"/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решения:</a:t>
            </a:r>
            <a:endParaRPr/>
          </a:p>
        </p:txBody>
      </p:sp>
      <p:sp>
        <p:nvSpPr>
          <p:cNvPr id="369" name="Google Shape;369;p8"/>
          <p:cNvSpPr txBox="1"/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Снимки с камер → техника на снимке → зона и этап календарного графика → предупреждение с зоной, этапом и снимками-доказательствами → вердикт инженера → нарушение в реестре.</a:t>
            </a:r>
          </a:p>
        </p:txBody>
      </p:sp>
      <p:sp>
        <p:nvSpPr>
          <p:cNvPr id="370" name="Google Shape;370;p8"/>
          <p:cNvSpPr txBox="1"/>
          <p:nvPr/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1" name="Picture 370" descr="summary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"/>
            <a:ext cx="6455664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9"/>
          <p:cNvSpPr txBox="1"/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Роль в команде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Ник в мессенджере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Номер телефона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Место работы/учебы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9"/>
          <p:cNvSpPr txBox="1"/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Имя Фамилия</a:t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9"/>
          <p:cNvSpPr txBox="1"/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Роль в команде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Ник в мессенджере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Номер телефона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Место работы/учебы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9"/>
          <p:cNvSpPr txBox="1"/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Имя Фамилия</a:t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9"/>
          <p:cNvSpPr txBox="1"/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Роль в команде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Ник в мессенджере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Номер телефона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Место работы/учебы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9"/>
          <p:cNvSpPr txBox="1"/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Имя Фамилия</a:t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9"/>
          <p:cNvSpPr txBox="1"/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Роль в команде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Ник в мессенджере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Номер телефона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Место работы/учебы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9"/>
          <p:cNvSpPr txBox="1"/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Имя Фамилия</a:t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346075" y="324562"/>
            <a:ext cx="2061972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91" name="Google Shape;391;p9"/>
          <p:cNvSpPr/>
          <p:nvPr>
            <p:ph idx="2" type="pic"/>
          </p:nvPr>
        </p:nvSpPr>
        <p:spPr>
          <a:xfrm>
            <a:off x="581397" y="1816054"/>
            <a:ext cx="1722566" cy="1552901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9"/>
          <p:cNvSpPr/>
          <p:nvPr>
            <p:ph idx="3" type="pic"/>
          </p:nvPr>
        </p:nvSpPr>
        <p:spPr>
          <a:xfrm>
            <a:off x="2886467" y="1826554"/>
            <a:ext cx="1722566" cy="1542401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9"/>
          <p:cNvSpPr/>
          <p:nvPr>
            <p:ph idx="4" type="pic"/>
          </p:nvPr>
        </p:nvSpPr>
        <p:spPr>
          <a:xfrm>
            <a:off x="5191784" y="1809238"/>
            <a:ext cx="1722567" cy="1559717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9"/>
          <p:cNvSpPr/>
          <p:nvPr>
            <p:ph idx="5" type="pic"/>
          </p:nvPr>
        </p:nvSpPr>
        <p:spPr>
          <a:xfrm>
            <a:off x="7520208" y="1809238"/>
            <a:ext cx="1722567" cy="1559717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9"/>
          <p:cNvSpPr/>
          <p:nvPr>
            <p:ph idx="6" type="pic"/>
          </p:nvPr>
        </p:nvSpPr>
        <p:spPr>
          <a:xfrm>
            <a:off x="9802422" y="1809238"/>
            <a:ext cx="1722566" cy="1559717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9"/>
          <p:cNvSpPr txBox="1"/>
          <p:nvPr>
            <p:ph type="title"/>
          </p:nvPr>
        </p:nvSpPr>
        <p:spPr>
          <a:xfrm>
            <a:off x="518359" y="449787"/>
            <a:ext cx="20619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КОМАНДА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9"/>
          <p:cNvSpPr txBox="1"/>
          <p:nvPr>
            <p:ph idx="1" type="body"/>
          </p:nvPr>
        </p:nvSpPr>
        <p:spPr>
          <a:xfrm>
            <a:off x="518360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Роль в команде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Ник в мессенджере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Номер телефона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Место работы/учебы</a:t>
            </a:r>
            <a:endParaRPr/>
          </a:p>
        </p:txBody>
      </p:sp>
      <p:sp>
        <p:nvSpPr>
          <p:cNvPr id="398" name="Google Shape;398;p9"/>
          <p:cNvSpPr txBox="1"/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Имя Фамилия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0"/>
          <p:cNvSpPr/>
          <p:nvPr/>
        </p:nvSpPr>
        <p:spPr>
          <a:xfrm>
            <a:off x="346075" y="324562"/>
            <a:ext cx="4421124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1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06" name="Google Shape;406;p10"/>
          <p:cNvSpPr txBox="1"/>
          <p:nvPr>
            <p:ph type="title"/>
          </p:nvPr>
        </p:nvSpPr>
        <p:spPr>
          <a:xfrm>
            <a:off x="507849" y="449787"/>
            <a:ext cx="442112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СЛОЖНОСТИ И РЕШЕНИЯ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10"/>
          <p:cNvSpPr txBox="1"/>
          <p:nvPr>
            <p:ph idx="1" type="body"/>
          </p:nvPr>
        </p:nvSpPr>
        <p:spPr>
          <a:xfrm>
            <a:off x="533607" y="1627632"/>
            <a:ext cx="9875520" cy="934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Организаторы дают отдельные снимки. Вывод делается уже по одному снимку («предварительно») и подтверждается серией снимков за день — без видеопотока и трекинга.</a:t>
            </a:r>
          </a:p>
        </p:txBody>
      </p:sp>
      <p:sp>
        <p:nvSpPr>
          <p:cNvPr id="408" name="Google Shape;408;p10"/>
          <p:cNvSpPr txBox="1"/>
          <p:nvPr/>
        </p:nvSpPr>
        <p:spPr>
          <a:xfrm>
            <a:off x="533607" y="1216152"/>
            <a:ext cx="9875520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Снимки, а не видео</a:t>
            </a:r>
          </a:p>
        </p:txBody>
      </p:sp>
      <p:sp>
        <p:nvSpPr>
          <p:cNvPr id="409" name="Google Shape;409;p10"/>
          <p:cNvSpPr txBox="1"/>
          <p:nvPr/>
        </p:nvSpPr>
        <p:spPr>
          <a:xfrm>
            <a:off x="533607" y="4983480"/>
            <a:ext cx="9875520" cy="105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Правила и API работают на CPU, детектор — через ONNX. Требование бетононасоса видно в карточке этапа, но не проверяется, пока класса нет в модели, — без ложных тревог.</a:t>
            </a:r>
          </a:p>
        </p:txBody>
      </p:sp>
      <p:sp>
        <p:nvSpPr>
          <p:cNvPr id="410" name="Google Shape;410;p10"/>
          <p:cNvSpPr txBox="1"/>
          <p:nvPr/>
        </p:nvSpPr>
        <p:spPr>
          <a:xfrm>
            <a:off x="533608" y="45262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Ноутбук без GPU и классы, которых нет в модели</a:t>
            </a:r>
          </a:p>
        </p:txBody>
      </p:sp>
      <p:sp>
        <p:nvSpPr>
          <p:cNvPr id="411" name="Google Shape;411;p10"/>
          <p:cNvSpPr txBox="1"/>
          <p:nvPr/>
        </p:nvSpPr>
        <p:spPr>
          <a:xfrm>
            <a:off x="533607" y="3310128"/>
            <a:ext cx="9875520" cy="1078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Ввели наблюдаемость: 169 видов работ проверяются по технике, 208 — только на лишнюю технику. Замечания экспертов из справочника учтены явно: фасад — по стадии на кадре общего плана.</a:t>
            </a:r>
          </a:p>
        </p:txBody>
      </p:sp>
      <p:sp>
        <p:nvSpPr>
          <p:cNvPr id="412" name="Google Shape;412;p10"/>
          <p:cNvSpPr txBox="1"/>
          <p:nvPr/>
        </p:nvSpPr>
        <p:spPr>
          <a:xfrm>
            <a:off x="533607" y="285292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377 видов работ, и половина не видна с камер</a:t>
            </a:r>
          </a:p>
        </p:txBody>
      </p:sp>
      <p:cxnSp>
        <p:nvCxnSpPr>
          <p:cNvPr id="413" name="Google Shape;413;p10"/>
          <p:cNvCxnSpPr/>
          <p:nvPr/>
        </p:nvCxnSpPr>
        <p:spPr>
          <a:xfrm>
            <a:off x="623888" y="2745691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4" name="Google Shape;414;p10"/>
          <p:cNvCxnSpPr/>
          <p:nvPr/>
        </p:nvCxnSpPr>
        <p:spPr>
          <a:xfrm>
            <a:off x="623888" y="4407066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5" name="Google Shape;415;p10"/>
          <p:cNvCxnSpPr/>
          <p:nvPr/>
        </p:nvCxnSpPr>
        <p:spPr>
          <a:xfrm>
            <a:off x="623888" y="1110074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6" name="Google Shape;416;p10"/>
          <p:cNvSpPr txBox="1"/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417" name="Google Shape;417;p10"/>
          <p:cNvSpPr txBox="1"/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418" name="Google Shape;418;p10"/>
          <p:cNvSpPr txBox="1"/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"/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fmla="val 386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fmla="val 340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1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27" name="Google Shape;427;p11"/>
          <p:cNvSpPr txBox="1"/>
          <p:nvPr>
            <p:ph idx="2" type="body"/>
          </p:nvPr>
        </p:nvSpPr>
        <p:spPr>
          <a:xfrm>
            <a:off x="589493" y="1920927"/>
            <a:ext cx="4929861" cy="3868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rtl="0" algn="l">
              <a:lnSpc>
                <a:spcPct val="90000"/>
              </a:lnSpc>
              <a:buSzPts val="1400"/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RF-DETR Large: v1 — 10 классов, mAP50 0,907; v2 — весь перечень ТЗ (+ каток, грузовик)</a:t>
            </a:r>
          </a:p>
          <a:p>
            <a:pPr marL="182880" indent="-18288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Методика на 377 видов работ справочника: 46 профилей техники и парные правила</a:t>
            </a:r>
          </a:p>
          <a:p>
            <a:pPr marL="182880" indent="-18288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10 правил отклонений: «предварительно» по снимку, «подтверждено» серией</a:t>
            </a:r>
          </a:p>
          <a:p>
            <a:pPr marL="182880" indent="-18288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Каждое предупреждение — зона, этап, снимки с рамками, расчёт, рекомендация</a:t>
            </a:r>
          </a:p>
          <a:p>
            <a:pPr marL="182880" indent="-18288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FastAPI, PostgreSQL, Docker; работает на ноутбуке без GPU</a:t>
            </a:r>
          </a:p>
        </p:txBody>
      </p:sp>
      <p:sp>
        <p:nvSpPr>
          <p:cNvPr id="428" name="Google Shape;428;p11"/>
          <p:cNvSpPr txBox="1"/>
          <p:nvPr>
            <p:ph idx="6" type="body"/>
          </p:nvPr>
        </p:nvSpPr>
        <p:spPr>
          <a:xfrm>
            <a:off x="6513513" y="1920927"/>
            <a:ext cx="4957144" cy="3876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rtl="0" algn="l">
              <a:lnSpc>
                <a:spcPct val="90000"/>
              </a:lnSpc>
              <a:buSzPts val="1400"/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Для кого: стройконтроль и технадзор, руководители проектов, генподрядчики</a:t>
            </a:r>
          </a:p>
          <a:p>
            <a:pPr marL="182880" indent="-18288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Объективная картина площадки в течение часа — вместо звонков подрядчикам</a:t>
            </a:r>
          </a:p>
          <a:p>
            <a:pPr marL="182880" indent="-18288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Раннее предупреждение о снижении темпа с причиной и снимком</a:t>
            </a:r>
          </a:p>
          <a:p>
            <a:pPr marL="182880" indent="-18288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Использует камеры, которые уже стоят на площадках (п. 10.13 справочника, 299-ПП)</a:t>
            </a:r>
          </a:p>
          <a:p>
            <a:pPr marL="182880" indent="-18288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Условный расчёт на объект: эффект ≈ 351 тыс. ₽ в месяц при затратах 40 тыс. ₽</a:t>
            </a:r>
          </a:p>
        </p:txBody>
      </p:sp>
      <p:sp>
        <p:nvSpPr>
          <p:cNvPr id="429" name="Google Shape;429;p11"/>
          <p:cNvSpPr txBox="1"/>
          <p:nvPr>
            <p:ph type="title"/>
          </p:nvPr>
        </p:nvSpPr>
        <p:spPr>
          <a:xfrm>
            <a:off x="525817" y="456851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430" name="Google Shape;430;p11"/>
          <p:cNvSpPr txBox="1"/>
          <p:nvPr>
            <p:ph idx="16" type="body"/>
          </p:nvPr>
        </p:nvSpPr>
        <p:spPr>
          <a:xfrm>
            <a:off x="578063" y="1476583"/>
            <a:ext cx="4929861" cy="555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431" name="Google Shape;431;p11"/>
          <p:cNvSpPr txBox="1"/>
          <p:nvPr>
            <p:ph idx="18" type="body"/>
          </p:nvPr>
        </p:nvSpPr>
        <p:spPr>
          <a:xfrm>
            <a:off x="6513513" y="1476583"/>
            <a:ext cx="5214724" cy="56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4"/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24"/>
          <p:cNvSpPr/>
          <p:nvPr/>
        </p:nvSpPr>
        <p:spPr>
          <a:xfrm>
            <a:off x="346075" y="324562"/>
            <a:ext cx="3831335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5340262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1541018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2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30" name="Google Shape;630;p24"/>
          <p:cNvSpPr/>
          <p:nvPr>
            <p:ph idx="1" type="body"/>
          </p:nvPr>
        </p:nvSpPr>
        <p:spPr>
          <a:xfrm>
            <a:off x="616304" y="3286814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</a:pPr>
            <a:r>
              <a:rPr sz="1800" b="1" i="0">
                <a:solidFill>
                  <a:srgbClr val="520978"/>
                </a:solidFill>
                <a:latin typeface="Montserrat"/>
              </a:rPr>
              <a:t>Сейчас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Соответствие плану проверяют вручную: просмотр камер, звонки подрядчикам, субъективная оценка. Отклонения замечают поздно.</a:t>
            </a:r>
          </a:p>
        </p:txBody>
      </p:sp>
      <p:sp>
        <p:nvSpPr>
          <p:cNvPr id="631" name="Google Shape;631;p24"/>
          <p:cNvSpPr/>
          <p:nvPr>
            <p:ph idx="2" type="body"/>
          </p:nvPr>
        </p:nvSpPr>
        <p:spPr>
          <a:xfrm>
            <a:off x="4569890" y="3264544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</a:pPr>
            <a:r>
              <a:rPr sz="1800" b="1" i="0">
                <a:solidFill>
                  <a:srgbClr val="520978"/>
                </a:solidFill>
                <a:latin typeface="Montserrat"/>
              </a:rPr>
              <a:t>ОКО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Снимки камер → техника → зона и этап графика → отклонение со снимками-доказательствами → вердикт инженера → нарушение.</a:t>
            </a:r>
          </a:p>
        </p:txBody>
      </p:sp>
      <p:sp>
        <p:nvSpPr>
          <p:cNvPr id="632" name="Google Shape;632;p24"/>
          <p:cNvSpPr/>
          <p:nvPr>
            <p:ph idx="3" type="body"/>
          </p:nvPr>
        </p:nvSpPr>
        <p:spPr>
          <a:xfrm>
            <a:off x="8405081" y="3277471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</a:pPr>
            <a:r>
              <a:rPr sz="1800" b="1" i="0">
                <a:solidFill>
                  <a:srgbClr val="520978"/>
                </a:solidFill>
                <a:latin typeface="Montserrat"/>
              </a:rPr>
              <a:t>Результат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Картина площадки в течение часа, раннее предупреждение о срыве темпа с причиной, реестр нарушений с подрядчиком и сроком.</a:t>
            </a:r>
          </a:p>
        </p:txBody>
      </p:sp>
      <p:cxnSp>
        <p:nvCxnSpPr>
          <p:cNvPr id="633" name="Google Shape;633;p24"/>
          <p:cNvCxnSpPr/>
          <p:nvPr/>
        </p:nvCxnSpPr>
        <p:spPr>
          <a:xfrm flipH="1" rot="10800000">
            <a:off x="3041995" y="2120995"/>
            <a:ext cx="2288595" cy="1147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634" name="Google Shape;634;p24"/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5" name="Google Shape;635;p24"/>
            <p:cNvSpPr/>
            <p:nvPr/>
          </p:nvSpPr>
          <p:spPr>
            <a:xfrm>
              <a:off x="3385734" y="2233242"/>
              <a:ext cx="340504" cy="319542"/>
            </a:xfrm>
            <a:custGeom>
              <a:rect b="b" l="l" r="r" t="t"/>
              <a:pathLst>
                <a:path extrusionOk="0" h="9289" w="10122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3420989" y="2296022"/>
              <a:ext cx="143441" cy="113382"/>
            </a:xfrm>
            <a:custGeom>
              <a:rect b="b" l="l" r="r" t="t"/>
              <a:pathLst>
                <a:path extrusionOk="0" h="3296" w="4264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3451433" y="2319276"/>
              <a:ext cx="9655" cy="13966"/>
            </a:xfrm>
            <a:custGeom>
              <a:rect b="b" l="l" r="r" t="t"/>
              <a:pathLst>
                <a:path extrusionOk="0" h="406" w="287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3500312" y="2305344"/>
              <a:ext cx="10428" cy="13966"/>
            </a:xfrm>
            <a:custGeom>
              <a:rect b="b" l="l" r="r" t="t"/>
              <a:pathLst>
                <a:path extrusionOk="0" h="406" w="31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3546769" y="2275038"/>
              <a:ext cx="10462" cy="13966"/>
            </a:xfrm>
            <a:custGeom>
              <a:rect b="b" l="l" r="r" t="t"/>
              <a:pathLst>
                <a:path extrusionOk="0" h="406" w="311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3420989" y="2260280"/>
              <a:ext cx="27282" cy="9873"/>
            </a:xfrm>
            <a:custGeom>
              <a:rect b="b" l="l" r="r" t="t"/>
              <a:pathLst>
                <a:path extrusionOk="0" h="287" w="811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3420989" y="2279131"/>
              <a:ext cx="47298" cy="10698"/>
            </a:xfrm>
            <a:custGeom>
              <a:rect b="b" l="l" r="r" t="t"/>
              <a:pathLst>
                <a:path extrusionOk="0" h="311" w="1406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3640490" y="2276689"/>
              <a:ext cx="31285" cy="54077"/>
            </a:xfrm>
            <a:custGeom>
              <a:rect b="b" l="l" r="r" t="t"/>
              <a:pathLst>
                <a:path extrusionOk="0" h="1572" w="93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3614049" y="2260280"/>
              <a:ext cx="84167" cy="86069"/>
            </a:xfrm>
            <a:custGeom>
              <a:rect b="b" l="l" r="r" t="t"/>
              <a:pathLst>
                <a:path extrusionOk="0" h="2502" w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3610046" y="2358595"/>
              <a:ext cx="45717" cy="10698"/>
            </a:xfrm>
            <a:custGeom>
              <a:rect b="b" l="l" r="r" t="t"/>
              <a:pathLst>
                <a:path extrusionOk="0" h="311" w="1359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3671742" y="2379063"/>
              <a:ext cx="25667" cy="9873"/>
            </a:xfrm>
            <a:custGeom>
              <a:rect b="b" l="l" r="r" t="t"/>
              <a:pathLst>
                <a:path extrusionOk="0" h="287" w="763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3610046" y="2379063"/>
              <a:ext cx="28897" cy="9873"/>
            </a:xfrm>
            <a:custGeom>
              <a:rect b="b" l="l" r="r" t="t"/>
              <a:pathLst>
                <a:path extrusionOk="0" h="287" w="859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3646108" y="2379063"/>
              <a:ext cx="19276" cy="9873"/>
            </a:xfrm>
            <a:custGeom>
              <a:rect b="b" l="l" r="r" t="t"/>
              <a:pathLst>
                <a:path extrusionOk="0" h="287" w="573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3610046" y="2398740"/>
              <a:ext cx="86556" cy="10664"/>
            </a:xfrm>
            <a:custGeom>
              <a:rect b="b" l="l" r="r" t="t"/>
              <a:pathLst>
                <a:path extrusionOk="0" h="310" w="2573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49" name="Google Shape;649;p24"/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650" name="Google Shape;650;p24"/>
            <p:cNvSpPr/>
            <p:nvPr/>
          </p:nvSpPr>
          <p:spPr>
            <a:xfrm>
              <a:off x="4267775" y="2311674"/>
              <a:ext cx="17661" cy="13382"/>
            </a:xfrm>
            <a:custGeom>
              <a:rect b="b" l="l" r="r" t="t"/>
              <a:pathLst>
                <a:path extrusionOk="0" h="389" w="525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4257347" y="2292719"/>
              <a:ext cx="16080" cy="15927"/>
            </a:xfrm>
            <a:custGeom>
              <a:rect b="b" l="l" r="r" t="t"/>
              <a:pathLst>
                <a:path extrusionOk="0" h="463" w="478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4271778" y="2333208"/>
              <a:ext cx="17661" cy="11490"/>
            </a:xfrm>
            <a:custGeom>
              <a:rect b="b" l="l" r="r" t="t"/>
              <a:pathLst>
                <a:path extrusionOk="0" h="334" w="525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4078718" y="2222819"/>
              <a:ext cx="340504" cy="339803"/>
            </a:xfrm>
            <a:custGeom>
              <a:rect b="b" l="l" r="r" t="t"/>
              <a:pathLst>
                <a:path extrusionOk="0" h="9878" w="10122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4123561" y="2296744"/>
              <a:ext cx="170689" cy="161818"/>
            </a:xfrm>
            <a:custGeom>
              <a:rect b="b" l="l" r="r" t="t"/>
              <a:pathLst>
                <a:path extrusionOk="0" h="4704" w="5074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4130793" y="2276448"/>
              <a:ext cx="47298" cy="25662"/>
            </a:xfrm>
            <a:custGeom>
              <a:rect b="b" l="l" r="r" t="t"/>
              <a:pathLst>
                <a:path extrusionOk="0" h="746" w="1406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4137992" y="2301423"/>
              <a:ext cx="25667" cy="16237"/>
            </a:xfrm>
            <a:custGeom>
              <a:rect b="b" l="l" r="r" t="t"/>
              <a:pathLst>
                <a:path extrusionOk="0" h="472" w="763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4161237" y="2507685"/>
              <a:ext cx="35288" cy="9873"/>
            </a:xfrm>
            <a:custGeom>
              <a:rect b="b" l="l" r="r" t="t"/>
              <a:pathLst>
                <a:path extrusionOk="0" h="287" w="1049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4161237" y="2525711"/>
              <a:ext cx="81745" cy="10698"/>
            </a:xfrm>
            <a:custGeom>
              <a:rect b="b" l="l" r="r" t="t"/>
              <a:pathLst>
                <a:path extrusionOk="0" h="311" w="243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59" name="Google Shape;659;p24"/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660" name="Google Shape;660;p24"/>
            <p:cNvSpPr/>
            <p:nvPr/>
          </p:nvSpPr>
          <p:spPr>
            <a:xfrm>
              <a:off x="4754041" y="2231625"/>
              <a:ext cx="340538" cy="322810"/>
            </a:xfrm>
            <a:custGeom>
              <a:rect b="b" l="l" r="r" t="t"/>
              <a:pathLst>
                <a:path extrusionOk="0" h="9384" w="10123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5011219" y="2437234"/>
              <a:ext cx="45683" cy="9873"/>
            </a:xfrm>
            <a:custGeom>
              <a:rect b="b" l="l" r="r" t="t"/>
              <a:pathLst>
                <a:path extrusionOk="0" h="287" w="1358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4976772" y="2455259"/>
              <a:ext cx="80130" cy="10698"/>
            </a:xfrm>
            <a:custGeom>
              <a:rect b="b" l="l" r="r" t="t"/>
              <a:pathLst>
                <a:path extrusionOk="0" h="311" w="2382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4976772" y="2302902"/>
              <a:ext cx="16854" cy="10664"/>
            </a:xfrm>
            <a:custGeom>
              <a:rect b="b" l="l" r="r" t="t"/>
              <a:pathLst>
                <a:path extrusionOk="0" h="310" w="501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5001598" y="2302902"/>
              <a:ext cx="55304" cy="10664"/>
            </a:xfrm>
            <a:custGeom>
              <a:rect b="b" l="l" r="r" t="t"/>
              <a:pathLst>
                <a:path extrusionOk="0" h="310" w="1644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4976772" y="2321719"/>
              <a:ext cx="80130" cy="9873"/>
            </a:xfrm>
            <a:custGeom>
              <a:rect b="b" l="l" r="r" t="t"/>
              <a:pathLst>
                <a:path extrusionOk="0" h="287" w="2382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4976772" y="2352025"/>
              <a:ext cx="80130" cy="65601"/>
            </a:xfrm>
            <a:custGeom>
              <a:rect b="b" l="l" r="r" t="t"/>
              <a:pathLst>
                <a:path extrusionOk="0" h="1907" w="2382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4789296" y="2294680"/>
              <a:ext cx="168267" cy="172069"/>
            </a:xfrm>
            <a:custGeom>
              <a:rect b="b" l="l" r="r" t="t"/>
              <a:pathLst>
                <a:path extrusionOk="0" h="5002" w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4794107" y="2453402"/>
              <a:ext cx="24086" cy="17475"/>
            </a:xfrm>
            <a:custGeom>
              <a:rect b="b" l="l" r="r" t="t"/>
              <a:pathLst>
                <a:path extrusionOk="0" h="508" w="716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4883051" y="2382744"/>
              <a:ext cx="24053" cy="16856"/>
            </a:xfrm>
            <a:custGeom>
              <a:rect b="b" l="l" r="r" t="t"/>
              <a:pathLst>
                <a:path extrusionOk="0" h="490" w="715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4935899" y="2304106"/>
              <a:ext cx="24086" cy="16856"/>
            </a:xfrm>
            <a:custGeom>
              <a:rect b="b" l="l" r="r" t="t"/>
              <a:pathLst>
                <a:path extrusionOk="0" h="490" w="716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71" name="Google Shape;671;p24"/>
          <p:cNvSpPr/>
          <p:nvPr/>
        </p:nvSpPr>
        <p:spPr>
          <a:xfrm>
            <a:off x="9337010" y="1396603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24"/>
          <p:cNvSpPr txBox="1"/>
          <p:nvPr>
            <p:ph type="title"/>
          </p:nvPr>
        </p:nvSpPr>
        <p:spPr>
          <a:xfrm>
            <a:off x="525817" y="421226"/>
            <a:ext cx="3831335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ЗАДАЧА И РЕШЕНИЕ</a:t>
            </a:r>
            <a:endParaRPr/>
          </a:p>
        </p:txBody>
      </p:sp>
      <p:cxnSp>
        <p:nvCxnSpPr>
          <p:cNvPr id="673" name="Google Shape;673;p24"/>
          <p:cNvCxnSpPr/>
          <p:nvPr/>
        </p:nvCxnSpPr>
        <p:spPr>
          <a:xfrm flipH="1" rot="10800000">
            <a:off x="6843165" y="2119165"/>
            <a:ext cx="2489934" cy="1248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"/>
          <p:cNvSpPr/>
          <p:nvPr/>
        </p:nvSpPr>
        <p:spPr>
          <a:xfrm>
            <a:off x="346075" y="324562"/>
            <a:ext cx="4814316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33" name="Google Shape;533;p18"/>
          <p:cNvSpPr txBox="1"/>
          <p:nvPr>
            <p:ph type="title"/>
          </p:nvPr>
        </p:nvSpPr>
        <p:spPr>
          <a:xfrm>
            <a:off x="525817" y="421226"/>
            <a:ext cx="4814316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СНИМОК → ЭТАП ГРАФИКА</a:t>
            </a:r>
            <a:endParaRPr/>
          </a:p>
        </p:txBody>
      </p:sp>
      <p:pic>
        <p:nvPicPr>
          <p:cNvPr id="534" name="Picture 533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4765513"/>
          </a:xfrm>
          <a:prstGeom prst="rect">
            <a:avLst/>
          </a:prstGeom>
        </p:spPr>
      </p:pic>
      <p:sp>
        <p:nvSpPr>
          <p:cNvPr id="535" name="TextBox 534"/>
          <p:cNvSpPr txBox="1"/>
          <p:nvPr/>
        </p:nvSpPr>
        <p:spPr>
          <a:xfrm>
            <a:off x="411480" y="5989320"/>
            <a:ext cx="107899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Связь — через два ключа: </a:t>
            </a:r>
            <a:r>
              <a:rPr sz="1200" b="1" i="0">
                <a:solidFill>
                  <a:srgbClr val="1C1D22"/>
                </a:solidFill>
                <a:latin typeface="Montserrat"/>
              </a:rPr>
              <a:t>зона на кадре = захватка графика</a:t>
            </a:r>
            <a:r>
              <a:rPr sz="1200" b="0" i="0">
                <a:solidFill>
                  <a:srgbClr val="1C1D22"/>
                </a:solidFill>
                <a:latin typeface="Montserrat"/>
              </a:rPr>
              <a:t>, </a:t>
            </a:r>
            <a:r>
              <a:rPr sz="1200" b="1" i="0">
                <a:solidFill>
                  <a:srgbClr val="1C1D22"/>
                </a:solidFill>
                <a:latin typeface="Montserrat"/>
              </a:rPr>
              <a:t>дата снимка = день графика</a:t>
            </a:r>
            <a:r>
              <a:rPr sz="1200" b="0" i="0">
                <a:solidFill>
                  <a:srgbClr val="1C1D22"/>
                </a:solidFill>
                <a:latin typeface="Montserrat"/>
              </a:rPr>
              <a:t>. Пример из ТЗ: котлован, экскаватор без самосвалов на двух снимках подряд.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"/>
          <p:cNvSpPr/>
          <p:nvPr/>
        </p:nvSpPr>
        <p:spPr>
          <a:xfrm>
            <a:off x="346075" y="324562"/>
            <a:ext cx="4421124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33" name="Google Shape;533;p18"/>
          <p:cNvSpPr txBox="1"/>
          <p:nvPr>
            <p:ph type="title"/>
          </p:nvPr>
        </p:nvSpPr>
        <p:spPr>
          <a:xfrm>
            <a:off x="525817" y="421226"/>
            <a:ext cx="442112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АРХИТЕКТУРА РЕШЕНИЯ</a:t>
            </a:r>
            <a:endParaRPr/>
          </a:p>
        </p:txBody>
      </p:sp>
      <p:pic>
        <p:nvPicPr>
          <p:cNvPr id="534" name="Picture 53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11384280" cy="4434574"/>
          </a:xfrm>
          <a:prstGeom prst="rect">
            <a:avLst/>
          </a:prstGeom>
        </p:spPr>
      </p:pic>
      <p:sp>
        <p:nvSpPr>
          <p:cNvPr id="535" name="TextBox 534"/>
          <p:cNvSpPr txBox="1"/>
          <p:nvPr/>
        </p:nvSpPr>
        <p:spPr>
          <a:xfrm>
            <a:off x="411480" y="5715000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Модульный монолит на CPU; детектор сменный — PyTorch, ONNX, AI-сервис на GPU или демо-разметка. Движок правил — чистые функции, методика — данные. Один код для прототипа и эксплуатации.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0"/>
          <p:cNvSpPr/>
          <p:nvPr/>
        </p:nvSpPr>
        <p:spPr>
          <a:xfrm>
            <a:off x="346075" y="324562"/>
            <a:ext cx="5600700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20"/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fmla="val 291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20"/>
          <p:cNvSpPr txBox="1"/>
          <p:nvPr>
            <p:ph idx="1" type="body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F2F2F2"/>
              </a:buClr>
              <a:buSzPts val="3600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Пример · 12.3.1 Устройство котлована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sz="1100" b="0" i="0">
                <a:solidFill>
                  <a:srgbClr val="5E5873"/>
                </a:solidFill>
                <a:latin typeface="Montserrat"/>
              </a:rPr>
              <a:t>профиль «Разработка и вывоз грунта» · наблюдаемость высокая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нужен </a:t>
            </a:r>
            <a:r>
              <a:rPr sz="1300" b="1" i="0">
                <a:solidFill>
                  <a:srgbClr val="1C1D22"/>
                </a:solidFill>
                <a:latin typeface="Montserrat"/>
              </a:rPr>
              <a:t>экскаватор</a:t>
            </a:r>
            <a:r>
              <a:rPr sz="1300" b="0" i="0">
                <a:solidFill>
                  <a:srgbClr val="1C1D22"/>
                </a:solidFill>
                <a:latin typeface="Montserrat"/>
              </a:rPr>
              <a:t> — на каждом снимке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нужен </a:t>
            </a:r>
            <a:r>
              <a:rPr sz="1300" b="1" i="0">
                <a:solidFill>
                  <a:srgbClr val="1C1D22"/>
                </a:solidFill>
                <a:latin typeface="Montserrat"/>
              </a:rPr>
              <a:t>самосвал</a:t>
            </a:r>
            <a:r>
              <a:rPr sz="1300" b="0" i="0">
                <a:solidFill>
                  <a:srgbClr val="1C1D22"/>
                </a:solidFill>
                <a:latin typeface="Montserrat"/>
              </a:rPr>
              <a:t> — хотя бы раз за смену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пара </a:t>
            </a:r>
            <a:r>
              <a:rPr sz="1300" b="1" i="0">
                <a:solidFill>
                  <a:srgbClr val="1C1D22"/>
                </a:solidFill>
                <a:latin typeface="Montserrat"/>
              </a:rPr>
              <a:t>экскаватор → самосвал</a:t>
            </a:r>
            <a:r>
              <a:rPr sz="1300" b="0" i="0">
                <a:solidFill>
                  <a:srgbClr val="1C1D22"/>
                </a:solidFill>
                <a:latin typeface="Montserrat"/>
              </a:rPr>
              <a:t>: «грунт не вывозится, возможно снижение темпа работ»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допустимы бульдозер и погрузчик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каток в котловане — «техника не соответствует этапу»; если каток нужен этапу зоны через 2 недели — «опережение графика»</a:t>
            </a:r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100" b="0" i="0">
                <a:solidFill>
                  <a:srgbClr val="5E5873"/>
                </a:solidFill>
                <a:latin typeface="Montserrat"/>
              </a:rPr>
              <a:t>Методика — YAML и XLSX для экспертов: правила меняются без программиста, версия правил пишется в каждое отклонение.</a:t>
            </a:r>
          </a:p>
        </p:txBody>
      </p:sp>
      <p:sp>
        <p:nvSpPr>
          <p:cNvPr id="563" name="Google Shape;563;p20"/>
          <p:cNvSpPr txBox="1"/>
          <p:nvPr>
            <p:ph idx="2" type="body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1" i="0">
                <a:solidFill>
                  <a:srgbClr val="1C1D22"/>
                </a:solidFill>
                <a:latin typeface="Montserrat"/>
              </a:rPr>
              <a:t>377</a:t>
            </a:r>
            <a:r>
              <a:rPr sz="1200" b="0" i="0">
                <a:solidFill>
                  <a:srgbClr val="1C1D22"/>
                </a:solidFill>
                <a:latin typeface="Montserrat"/>
              </a:rPr>
              <a:t> видов работ справочника → </a:t>
            </a:r>
            <a:r>
              <a:rPr sz="1200" b="1" i="0">
                <a:solidFill>
                  <a:srgbClr val="1C1D22"/>
                </a:solidFill>
                <a:latin typeface="Montserrat"/>
              </a:rPr>
              <a:t>46</a:t>
            </a:r>
            <a:r>
              <a:rPr sz="1200" b="0" i="0">
                <a:solidFill>
                  <a:srgbClr val="1C1D22"/>
                </a:solidFill>
                <a:latin typeface="Montserrat"/>
              </a:rPr>
              <a:t> профилей техники + 18 составных для групп</a:t>
            </a:r>
          </a:p>
        </p:txBody>
      </p:sp>
      <p:sp>
        <p:nvSpPr>
          <p:cNvPr id="564" name="Google Shape;564;p20"/>
          <p:cNvSpPr txBox="1"/>
          <p:nvPr>
            <p:ph idx="3" type="body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1" i="0">
                <a:solidFill>
                  <a:srgbClr val="1C1D22"/>
                </a:solidFill>
                <a:latin typeface="Montserrat"/>
              </a:rPr>
              <a:t>Высокая</a:t>
            </a:r>
            <a:r>
              <a:rPr sz="1200" b="0" i="0">
                <a:solidFill>
                  <a:srgbClr val="1C1D22"/>
                </a:solidFill>
                <a:latin typeface="Montserrat"/>
              </a:rPr>
              <a:t> наблюдаемость · 70 — нет техники = нет работ, проверка по каждому снимку</a:t>
            </a:r>
          </a:p>
        </p:txBody>
      </p:sp>
      <p:sp>
        <p:nvSpPr>
          <p:cNvPr id="565" name="Google Shape;565;p20"/>
          <p:cNvSpPr txBox="1"/>
          <p:nvPr>
            <p:ph idx="4" type="body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1" i="0">
                <a:solidFill>
                  <a:srgbClr val="1C1D22"/>
                </a:solidFill>
                <a:latin typeface="Montserrat"/>
              </a:rPr>
              <a:t>Средняя</a:t>
            </a:r>
            <a:r>
              <a:rPr sz="1200" b="0" i="0">
                <a:solidFill>
                  <a:srgbClr val="1C1D22"/>
                </a:solidFill>
                <a:latin typeface="Montserrat"/>
              </a:rPr>
              <a:t> · 99 — подача, монтаж, доставка: техника хотя бы раз за смену</a:t>
            </a:r>
          </a:p>
        </p:txBody>
      </p:sp>
      <p:sp>
        <p:nvSpPr>
          <p:cNvPr id="566" name="Google Shape;566;p20"/>
          <p:cNvSpPr txBox="1"/>
          <p:nvPr>
            <p:ph idx="5" type="body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1" i="0">
                <a:solidFill>
                  <a:srgbClr val="1C1D22"/>
                </a:solidFill>
                <a:latin typeface="Montserrat"/>
              </a:rPr>
              <a:t>Низкая</a:t>
            </a:r>
            <a:r>
              <a:rPr sz="1200" b="0" i="0">
                <a:solidFill>
                  <a:srgbClr val="1C1D22"/>
                </a:solidFill>
                <a:latin typeface="Montserrat"/>
              </a:rPr>
              <a:t> · 70 и </a:t>
            </a:r>
            <a:r>
              <a:rPr sz="1200" b="1" i="0">
                <a:solidFill>
                  <a:srgbClr val="1C1D22"/>
                </a:solidFill>
                <a:latin typeface="Montserrat"/>
              </a:rPr>
              <a:t>не видно с камер</a:t>
            </a:r>
            <a:r>
              <a:rPr sz="1200" b="0" i="0">
                <a:solidFill>
                  <a:srgbClr val="1C1D22"/>
                </a:solidFill>
                <a:latin typeface="Montserrat"/>
              </a:rPr>
              <a:t> · 138 — только лишняя техника</a:t>
            </a:r>
          </a:p>
        </p:txBody>
      </p:sp>
      <p:sp>
        <p:nvSpPr>
          <p:cNvPr id="567" name="Google Shape;567;p20"/>
          <p:cNvSpPr txBox="1"/>
          <p:nvPr>
            <p:ph idx="6" type="body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Замечания экспертов учтены: монолит ниже 0 — как веха, фасад — по стадии на общем плане</a:t>
            </a:r>
          </a:p>
        </p:txBody>
      </p:sp>
      <p:sp>
        <p:nvSpPr>
          <p:cNvPr id="568" name="Google Shape;568;p20"/>
          <p:cNvSpPr txBox="1"/>
          <p:nvPr>
            <p:ph idx="4294967295" type="sldNum"/>
          </p:nvPr>
        </p:nvSpPr>
        <p:spPr>
          <a:xfrm>
            <a:off x="11633200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69" name="Google Shape;569;p20"/>
          <p:cNvSpPr txBox="1"/>
          <p:nvPr>
            <p:ph type="title"/>
          </p:nvPr>
        </p:nvSpPr>
        <p:spPr>
          <a:xfrm>
            <a:off x="525817" y="421226"/>
            <a:ext cx="5600700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МЕТОДИКА «ЭТАП → ТЕХНИКА»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"/>
          <p:cNvSpPr/>
          <p:nvPr/>
        </p:nvSpPr>
        <p:spPr>
          <a:xfrm>
            <a:off x="346075" y="324562"/>
            <a:ext cx="4617720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33" name="Google Shape;533;p18"/>
          <p:cNvSpPr txBox="1"/>
          <p:nvPr>
            <p:ph type="title"/>
          </p:nvPr>
        </p:nvSpPr>
        <p:spPr>
          <a:xfrm>
            <a:off x="525817" y="421226"/>
            <a:ext cx="4617720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10 ПРАВИЛ ОТКЛОНЕНИЙ</a:t>
            </a:r>
            <a:endParaRPr/>
          </a:p>
        </p:txBody>
      </p:sp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411480" y="1188720"/>
          <a:ext cx="11384278" cy="43251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21496"/>
                <a:gridCol w="1147608"/>
                <a:gridCol w="1147608"/>
                <a:gridCol w="5967566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Отклонение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1 снимок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Серия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Когда срабатывает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52097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Неполный комплект техники · пример ТЗ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критично*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ведущая техника без парной на ≥ 30 % снимков: экскаватор без самосвалов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Работы не ведутся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критично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этап с видимой техникой идёт, а зона пуста не меньше часа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Нет необходимой техники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критично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нет техники для обязательной роли профиля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Техники меньше плана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критично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 графике «2 × миксер», а одновременно в кадре один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Техника не соответствует этапу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техника не нужна ни одному идущему этапу зоны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Опережение графика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 сведению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 сведению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техника этапа зоны, который начнётся в ближайшие 21 день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Этап не завершён в срок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техника этапа, закончившегося в последние 30 дней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Техника в зоне без работ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 зоне по графику ничего не идёт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Стадия не совпадает с планом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кадр общего плана: модель видит стадию раньше плановой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Нет данных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 сведению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к сведению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темно, туман, засветка — это «нет данных», а не «нет техники»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</a:tbl>
          </a:graphicData>
        </a:graphic>
      </p:graphicFrame>
      <p:sp>
        <p:nvSpPr>
          <p:cNvPr id="535" name="TextBox 534"/>
          <p:cNvSpPr txBox="1"/>
          <p:nvPr/>
        </p:nvSpPr>
        <p:spPr>
          <a:xfrm>
            <a:off x="411480" y="5669280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100" b="0" i="0">
                <a:solidFill>
                  <a:srgbClr val="5E5873"/>
                </a:solidFill>
                <a:latin typeface="Montserrat"/>
              </a:rPr>
              <a:t>* критично, если парной техники не было весь день. Пороги асимметричны: «лишняя техника» — рамка ≥ 0,5, «техники нет» — засчитывается и ≥ 0,3; сомнительная рамка не создаёт тревоги ни в одну сторону.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"/>
          <p:cNvSpPr/>
          <p:nvPr/>
        </p:nvSpPr>
        <p:spPr>
          <a:xfrm>
            <a:off x="346075" y="324562"/>
            <a:ext cx="3831335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1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84" name="Google Shape;484;p16"/>
          <p:cNvSpPr txBox="1"/>
          <p:nvPr>
            <p:ph idx="1" type="body"/>
          </p:nvPr>
        </p:nvSpPr>
        <p:spPr>
          <a:xfrm>
            <a:off x="520913" y="2339783"/>
            <a:ext cx="2284071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RF-DETR Large</a:t>
            </a:r>
          </a:p>
        </p:txBody>
      </p:sp>
      <p:sp>
        <p:nvSpPr>
          <p:cNvPr id="485" name="Google Shape;485;p16"/>
          <p:cNvSpPr txBox="1"/>
          <p:nvPr>
            <p:ph idx="2" type="body"/>
          </p:nvPr>
        </p:nvSpPr>
        <p:spPr>
          <a:xfrm>
            <a:off x="520913" y="2880360"/>
            <a:ext cx="2284071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F2F2F2"/>
              </a:buClr>
              <a:buSzPts val="1452"/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Трансформер-детектор на DINOv2. Версия v1 команды: 10 классов, mAP50 0,907, mAP50-95 0,767, precision 0,938.</a:t>
            </a:r>
          </a:p>
        </p:txBody>
      </p:sp>
      <p:sp>
        <p:nvSpPr>
          <p:cNvPr id="486" name="Google Shape;486;p16"/>
          <p:cNvSpPr txBox="1"/>
          <p:nvPr>
            <p:ph idx="3" type="body"/>
          </p:nvPr>
        </p:nvSpPr>
        <p:spPr>
          <a:xfrm>
            <a:off x="3457903" y="2373557"/>
            <a:ext cx="233741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Весь перечень ТЗ</a:t>
            </a:r>
          </a:p>
        </p:txBody>
      </p:sp>
      <p:sp>
        <p:nvSpPr>
          <p:cNvPr id="487" name="Google Shape;487;p16"/>
          <p:cNvSpPr txBox="1"/>
          <p:nvPr>
            <p:ph idx="4" type="body"/>
          </p:nvPr>
        </p:nvSpPr>
        <p:spPr>
          <a:xfrm>
            <a:off x="3457903" y="2880360"/>
            <a:ext cx="233741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F2F2F2"/>
              </a:buClr>
              <a:buSzPts val="1452"/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v1 видит 6 из 8 типов ТЗ. v2 добавляет каток и грузовик по открытым датасетам организаторов: 12 классов, все 8 типов.</a:t>
            </a:r>
          </a:p>
        </p:txBody>
      </p:sp>
      <p:sp>
        <p:nvSpPr>
          <p:cNvPr id="488" name="Google Shape;488;p16"/>
          <p:cNvSpPr txBox="1"/>
          <p:nvPr>
            <p:ph idx="5" type="body"/>
          </p:nvPr>
        </p:nvSpPr>
        <p:spPr>
          <a:xfrm>
            <a:off x="6456363" y="2379657"/>
            <a:ext cx="2268537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Общие планы</a:t>
            </a:r>
          </a:p>
        </p:txBody>
      </p:sp>
      <p:sp>
        <p:nvSpPr>
          <p:cNvPr id="489" name="Google Shape;489;p16"/>
          <p:cNvSpPr txBox="1"/>
          <p:nvPr>
            <p:ph idx="6" type="body"/>
          </p:nvPr>
        </p:nvSpPr>
        <p:spPr>
          <a:xfrm>
            <a:off x="6456363" y="2880360"/>
            <a:ext cx="2268537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F2F2F2"/>
              </a:buClr>
              <a:buSzPts val="1452"/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Кадр целиком + сетка 3×3 фрагментов: мелкая техника с высоты, слияние через NMS. Флаг камеры tiles.</a:t>
            </a:r>
          </a:p>
        </p:txBody>
      </p:sp>
      <p:sp>
        <p:nvSpPr>
          <p:cNvPr id="490" name="Google Shape;490;p16"/>
          <p:cNvSpPr txBox="1"/>
          <p:nvPr>
            <p:ph idx="7" type="body"/>
          </p:nvPr>
        </p:nvSpPr>
        <p:spPr>
          <a:xfrm>
            <a:off x="9407534" y="2339783"/>
            <a:ext cx="226355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Ноутбук без GPU</a:t>
            </a:r>
          </a:p>
        </p:txBody>
      </p:sp>
      <p:sp>
        <p:nvSpPr>
          <p:cNvPr id="491" name="Google Shape;491;p16"/>
          <p:cNvSpPr txBox="1"/>
          <p:nvPr>
            <p:ph idx="8" type="body"/>
          </p:nvPr>
        </p:nvSpPr>
        <p:spPr>
          <a:xfrm>
            <a:off x="9407534" y="2880360"/>
            <a:ext cx="226355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F2F2F2"/>
              </a:buClr>
              <a:buSzPts val="1452"/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Экспорт в ONNX, CPU без PyTorch; GPU — отдельный AI-сервис. Контроль качества кадра до детекции.</a:t>
            </a:r>
          </a:p>
        </p:txBody>
      </p:sp>
      <p:sp>
        <p:nvSpPr>
          <p:cNvPr id="492" name="Google Shape;492;p16"/>
          <p:cNvSpPr txBox="1"/>
          <p:nvPr>
            <p:ph type="title"/>
          </p:nvPr>
        </p:nvSpPr>
        <p:spPr>
          <a:xfrm>
            <a:off x="525817" y="421226"/>
            <a:ext cx="3831335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ДЕТЕКЦИЯ ТЕХНИКИ</a:t>
            </a:r>
            <a:endParaRPr/>
          </a:p>
        </p:txBody>
      </p:sp>
      <p:sp>
        <p:nvSpPr>
          <p:cNvPr id="493" name="Google Shape;493;p16"/>
          <p:cNvSpPr txBox="1"/>
          <p:nvPr>
            <p:ph idx="16" type="body"/>
          </p:nvPr>
        </p:nvSpPr>
        <p:spPr>
          <a:xfrm>
            <a:off x="520913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2800"/>
              <a:buNone/>
            </a:pPr>
            <a:r>
              <a:rPr sz="2000" b="1" i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494" name="Google Shape;494;p16"/>
          <p:cNvSpPr txBox="1"/>
          <p:nvPr>
            <p:ph idx="17" type="body"/>
          </p:nvPr>
        </p:nvSpPr>
        <p:spPr>
          <a:xfrm>
            <a:off x="3449944" y="1766200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2800"/>
              <a:buNone/>
            </a:pPr>
            <a:r>
              <a:rPr sz="2000" b="1" i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495" name="Google Shape;495;p16"/>
          <p:cNvSpPr txBox="1"/>
          <p:nvPr>
            <p:ph idx="18" type="body"/>
          </p:nvPr>
        </p:nvSpPr>
        <p:spPr>
          <a:xfrm>
            <a:off x="6456363" y="1766043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2800"/>
              <a:buNone/>
            </a:pPr>
            <a:r>
              <a:rPr sz="2000" b="1" i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496" name="Google Shape;496;p16"/>
          <p:cNvSpPr txBox="1"/>
          <p:nvPr>
            <p:ph idx="19" type="body"/>
          </p:nvPr>
        </p:nvSpPr>
        <p:spPr>
          <a:xfrm>
            <a:off x="9407534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2800"/>
              <a:buNone/>
            </a:pPr>
            <a:r>
              <a:rPr sz="2000" b="1" i="0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"/>
          <p:cNvSpPr/>
          <p:nvPr/>
        </p:nvSpPr>
        <p:spPr>
          <a:xfrm>
            <a:off x="346075" y="324562"/>
            <a:ext cx="5010912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33" name="Google Shape;533;p18"/>
          <p:cNvSpPr txBox="1"/>
          <p:nvPr>
            <p:ph type="title"/>
          </p:nvPr>
        </p:nvSpPr>
        <p:spPr>
          <a:xfrm>
            <a:off x="525817" y="421226"/>
            <a:ext cx="501091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ОБОСНОВАНИЕ ТЕХНОЛОГИЙ</a:t>
            </a:r>
            <a:endParaRPr/>
          </a:p>
        </p:txBody>
      </p:sp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411480" y="1188720"/>
          <a:ext cx="11384278" cy="46085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9791"/>
                <a:gridCol w="2570643"/>
                <a:gridCol w="6793844"/>
              </a:tblGrid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Задача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Выбор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Почему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52097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Детекция техники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RF-DETR Large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по бенчмаркам авторов (COCO, RF100-VL) точнее YOLO при сопоставимой скорости; дообучается на малых датасетах; экспорт в ONNX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Стадия и готовность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DINOv2 ViT-g + голова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большие модели заморожены, голова 2,6 млн параметров обучается за минуту; ошибка 0,9 п.п.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ИИ-анализ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Qwen3-VL + YandexGPT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VLM под память сервера описывает кадр и отмечает технику; YandexGPT сверяет все слои: вердикты по рамкам и отклонениям, пропущенная техника, прогноз; работает из Yandex Cloud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Методика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YAML + XLSX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эксперты меняют правила без программиста; версия правил в каждом отклонении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Сервис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Python, FastAPI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один язык с ML-частью; Swagger из коробки; асинхронный приём снимков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Данные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PostgreSQL / SQLite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JSONB для профилей и расчётов; SQLite — запуск на ноутбуке без установки СУБД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Интерфейс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HTML + JS без сборки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отдаётся тем же сервисом; не нужен Node.js на стенде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</a:rPr>
                        <a:t>Развёртывание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Docker Compose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</a:rPr>
                        <a:t>одна команда; профиль gpu поднимает AI-сервис на видеокарте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DD3EA"/>
                      </a:solidFill>
                    </a:lnL>
                    <a:lnR w="6350">
                      <a:solidFill>
                        <a:srgbClr val="DDD3EA"/>
                      </a:solidFill>
                    </a:lnR>
                    <a:lnT w="6350">
                      <a:solidFill>
                        <a:srgbClr val="DDD3EA"/>
                      </a:solidFill>
                    </a:lnT>
                    <a:lnB w="6350">
                      <a:solidFill>
                        <a:srgbClr val="DDD3EA"/>
                      </a:solidFill>
                    </a:lnB>
                    <a:solidFill>
                      <a:srgbClr val="F7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"/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fmla="val 692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47" name="Google Shape;447;p13"/>
          <p:cNvSpPr txBox="1"/>
          <p:nvPr>
            <p:ph type="title"/>
          </p:nvPr>
        </p:nvSpPr>
        <p:spPr>
          <a:xfrm>
            <a:off x="533104" y="414049"/>
            <a:ext cx="5994696" cy="552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Montserrat"/>
              <a:buNone/>
            </a:pPr>
            <a:r>
              <a:rPr sz="2000" b="1">
                <a:latin typeface="Montserrat"/>
              </a:rPr>
              <a:t>ПРОТОТИП: СВОДКА ПЛОЩАДКИ</a:t>
            </a:r>
            <a:endParaRPr sz="3600">
              <a:solidFill>
                <a:schemeClr val="lt1"/>
              </a:solidFill>
            </a:endParaRPr>
          </a:p>
        </p:txBody>
      </p:sp>
      <p:pic>
        <p:nvPicPr>
          <p:cNvPr id="448" name="Picture 447" descr="oko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607808" cy="4754880"/>
          </a:xfrm>
          <a:prstGeom prst="rect">
            <a:avLst/>
          </a:prstGeom>
        </p:spPr>
      </p:pic>
      <p:sp>
        <p:nvSpPr>
          <p:cNvPr id="449" name="TextBox 448"/>
          <p:cNvSpPr txBox="1"/>
          <p:nvPr/>
        </p:nvSpPr>
        <p:spPr>
          <a:xfrm>
            <a:off x="8275320" y="1600200"/>
            <a:ext cx="34290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Что видит инженер утром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KPI дня: снимки, критичные, внимание, нарушения, время обработки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Доска зон: последний снимок с рамками, этапы зоны, нужная и видимая техника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Справа — отклонения: зона, этап, снимки-доказательства, кнопки вердикта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24.09.2026: 17 снимков, 8 отклонений, 2 критичных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"/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fmla="val 692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47" name="Google Shape;447;p13"/>
          <p:cNvSpPr txBox="1"/>
          <p:nvPr>
            <p:ph type="title"/>
          </p:nvPr>
        </p:nvSpPr>
        <p:spPr>
          <a:xfrm>
            <a:off x="533104" y="414049"/>
            <a:ext cx="5994696" cy="552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Montserrat"/>
              <a:buNone/>
            </a:pPr>
            <a:r>
              <a:rPr sz="2000" b="1">
                <a:latin typeface="Montserrat"/>
              </a:rPr>
              <a:t>ПРОТОТИП: ПРИМЕР ИЗ ТЗ</a:t>
            </a:r>
            <a:endParaRPr sz="3600">
              <a:solidFill>
                <a:schemeClr val="lt1"/>
              </a:solidFill>
            </a:endParaRPr>
          </a:p>
        </p:txBody>
      </p:sp>
      <p:pic>
        <p:nvPicPr>
          <p:cNvPr id="448" name="Picture 447" descr="oko_snapshot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607808" cy="4754880"/>
          </a:xfrm>
          <a:prstGeom prst="rect">
            <a:avLst/>
          </a:prstGeom>
        </p:spPr>
      </p:pic>
      <p:sp>
        <p:nvSpPr>
          <p:cNvPr id="449" name="TextBox 448"/>
          <p:cNvSpPr txBox="1"/>
          <p:nvPr/>
        </p:nvSpPr>
        <p:spPr>
          <a:xfrm>
            <a:off x="8275320" y="1600200"/>
            <a:ext cx="34290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Котлован, секция 1 · этап 12.3.1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10:30 и 11:20 — экскаватор без самосвалов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Ожидалось «экскаватор + самосвал», видно «экскаватор» — пара нарушена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«Неполный комплект техники» · подтверждено серией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«…грунт не вывозится, возможно снижение темпа работ»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Инженер: «Подтвердить» → НР-2026-0001 с подрядчиком и сроком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"/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fmla="val 692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1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55" name="Google Shape;455;p14"/>
          <p:cNvSpPr txBox="1"/>
          <p:nvPr>
            <p:ph type="title"/>
          </p:nvPr>
        </p:nvSpPr>
        <p:spPr>
          <a:xfrm>
            <a:off x="622040" y="496888"/>
            <a:ext cx="4781233" cy="415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2000"/>
              <a:buFont typeface="Montserrat"/>
              <a:buNone/>
            </a:pPr>
            <a:r>
              <a:rPr sz="1800" b="1" i="0">
                <a:solidFill>
                  <a:srgbClr val="520978"/>
                </a:solidFill>
                <a:latin typeface="Montserrat"/>
              </a:rPr>
              <a:t>ПРОВЕРИТЬ СВОЙ СНИМОК</a:t>
            </a:r>
          </a:p>
        </p:txBody>
      </p:sp>
      <p:sp>
        <p:nvSpPr>
          <p:cNvPr id="457" name="Google Shape;457;p14"/>
          <p:cNvSpPr txBox="1"/>
          <p:nvPr>
            <p:ph idx="1" type="body"/>
          </p:nvPr>
        </p:nvSpPr>
        <p:spPr>
          <a:xfrm>
            <a:off x="595433" y="1143695"/>
            <a:ext cx="4807840" cy="4717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F2F2F2"/>
              </a:buClr>
              <a:buSzPts val="1400"/>
              <a:buNone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Загрузите снимок, выберите вид работ и технику по графику — и сразу получите: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рамки техники и контроль качества кадра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проверки методики: что нужно, что видно, пары</a:t>
            </a:r>
          </a:p>
          <a:p>
            <a:pPr marL="182880" indent="-182880"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предупреждения с текстом и рекомендацией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Тот же сценарий — в API (POST /api/analyze) и в консоли (app.cli check).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5E5873"/>
                </a:solidFill>
                <a:latin typeface="Montserrat"/>
              </a:rPr>
              <a:t>Свои снимки распознаются с весами RF-DETR; без весов чужой снимок получает «нет данных», а не ложное «работы не ведутся».</a:t>
            </a:r>
          </a:p>
        </p:txBody>
      </p:sp>
      <p:pic>
        <p:nvPicPr>
          <p:cNvPr id="458" name="Picture 457" descr="oko_analy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"/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fmla="val 692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47" name="Google Shape;447;p13"/>
          <p:cNvSpPr txBox="1"/>
          <p:nvPr>
            <p:ph type="title"/>
          </p:nvPr>
        </p:nvSpPr>
        <p:spPr>
          <a:xfrm>
            <a:off x="533104" y="414049"/>
            <a:ext cx="5994696" cy="552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Montserrat"/>
              <a:buNone/>
            </a:pPr>
            <a:r>
              <a:rPr sz="2000" b="1">
                <a:latin typeface="Montserrat"/>
              </a:rPr>
              <a:t>ОСВЕЩЁННОСТЬ, ПОГОДА, СЕЗОН</a:t>
            </a:r>
            <a:endParaRPr sz="3600">
              <a:solidFill>
                <a:schemeClr val="lt1"/>
              </a:solidFill>
            </a:endParaRPr>
          </a:p>
        </p:txBody>
      </p:sp>
      <p:pic>
        <p:nvPicPr>
          <p:cNvPr id="448" name="Picture 447" descr="c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2679192" cy="1508760"/>
          </a:xfrm>
          <a:prstGeom prst="rect">
            <a:avLst/>
          </a:prstGeom>
        </p:spPr>
      </p:pic>
      <p:sp>
        <p:nvSpPr>
          <p:cNvPr id="449" name="TextBox 448"/>
          <p:cNvSpPr txBox="1"/>
          <p:nvPr/>
        </p:nvSpPr>
        <p:spPr>
          <a:xfrm>
            <a:off x="566928" y="3035808"/>
            <a:ext cx="26791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D22"/>
                </a:solidFill>
                <a:latin typeface="Montserrat"/>
              </a:rPr>
              <a:t>Дождь: грейдер и каток после окончания этапа → этап не завершён</a:t>
            </a:r>
          </a:p>
        </p:txBody>
      </p:sp>
      <p:pic>
        <p:nvPicPr>
          <p:cNvPr id="450" name="Picture 449" descr="c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481328"/>
            <a:ext cx="2679192" cy="1508760"/>
          </a:xfrm>
          <a:prstGeom prst="rect">
            <a:avLst/>
          </a:prstGeom>
        </p:spPr>
      </p:pic>
      <p:sp>
        <p:nvSpPr>
          <p:cNvPr id="451" name="TextBox 450"/>
          <p:cNvSpPr txBox="1"/>
          <p:nvPr/>
        </p:nvSpPr>
        <p:spPr>
          <a:xfrm>
            <a:off x="3374136" y="3035808"/>
            <a:ext cx="26791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D22"/>
                </a:solidFill>
                <a:latin typeface="Montserrat"/>
              </a:rPr>
              <a:t>Ночь без света → «нет данных», а не «работы не ведутся»</a:t>
            </a:r>
          </a:p>
        </p:txBody>
      </p:sp>
      <p:pic>
        <p:nvPicPr>
          <p:cNvPr id="452" name="Picture 451" descr="c2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481328"/>
            <a:ext cx="2679192" cy="1508760"/>
          </a:xfrm>
          <a:prstGeom prst="rect">
            <a:avLst/>
          </a:prstGeom>
        </p:spPr>
      </p:pic>
      <p:sp>
        <p:nvSpPr>
          <p:cNvPr id="453" name="TextBox 452"/>
          <p:cNvSpPr txBox="1"/>
          <p:nvPr/>
        </p:nvSpPr>
        <p:spPr>
          <a:xfrm>
            <a:off x="6181344" y="3035808"/>
            <a:ext cx="26791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D22"/>
                </a:solidFill>
                <a:latin typeface="Montserrat"/>
              </a:rPr>
              <a:t>Туман → «нет данных»</a:t>
            </a:r>
          </a:p>
        </p:txBody>
      </p:sp>
      <p:pic>
        <p:nvPicPr>
          <p:cNvPr id="454" name="Picture 453" descr="c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1481328"/>
            <a:ext cx="2679192" cy="1508760"/>
          </a:xfrm>
          <a:prstGeom prst="rect">
            <a:avLst/>
          </a:prstGeom>
        </p:spPr>
      </p:pic>
      <p:sp>
        <p:nvSpPr>
          <p:cNvPr id="455" name="TextBox 454"/>
          <p:cNvSpPr txBox="1"/>
          <p:nvPr/>
        </p:nvSpPr>
        <p:spPr>
          <a:xfrm>
            <a:off x="8988552" y="3035808"/>
            <a:ext cx="26791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D22"/>
                </a:solidFill>
                <a:latin typeface="Montserrat"/>
              </a:rPr>
              <a:t>Общий план: мелкая техника, фрагменты 3×3</a:t>
            </a:r>
          </a:p>
        </p:txBody>
      </p:sp>
      <p:pic>
        <p:nvPicPr>
          <p:cNvPr id="456" name="Picture 455" descr="c3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858768"/>
            <a:ext cx="2679192" cy="1508760"/>
          </a:xfrm>
          <a:prstGeom prst="rect">
            <a:avLst/>
          </a:prstGeom>
        </p:spPr>
      </p:pic>
      <p:sp>
        <p:nvSpPr>
          <p:cNvPr id="457" name="TextBox 456"/>
          <p:cNvSpPr txBox="1"/>
          <p:nvPr/>
        </p:nvSpPr>
        <p:spPr>
          <a:xfrm>
            <a:off x="566928" y="5413247"/>
            <a:ext cx="26791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D22"/>
                </a:solidFill>
                <a:latin typeface="Montserrat"/>
              </a:rPr>
              <a:t>Зима, снег: миксер и башенный кран — по графику</a:t>
            </a:r>
          </a:p>
        </p:txBody>
      </p:sp>
      <p:pic>
        <p:nvPicPr>
          <p:cNvPr id="458" name="Picture 457" descr="c2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136" y="3858768"/>
            <a:ext cx="2679192" cy="1508760"/>
          </a:xfrm>
          <a:prstGeom prst="rect">
            <a:avLst/>
          </a:prstGeom>
        </p:spPr>
      </p:pic>
      <p:sp>
        <p:nvSpPr>
          <p:cNvPr id="459" name="TextBox 458"/>
          <p:cNvSpPr txBox="1"/>
          <p:nvPr/>
        </p:nvSpPr>
        <p:spPr>
          <a:xfrm>
            <a:off x="3374136" y="5413247"/>
            <a:ext cx="26791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D22"/>
                </a:solidFill>
                <a:latin typeface="Montserrat"/>
              </a:rPr>
              <a:t>Ночь с прожекторами: снимок годен</a:t>
            </a:r>
          </a:p>
        </p:txBody>
      </p:sp>
      <p:pic>
        <p:nvPicPr>
          <p:cNvPr id="460" name="Picture 459" descr="c2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344" y="3858768"/>
            <a:ext cx="2679192" cy="1508760"/>
          </a:xfrm>
          <a:prstGeom prst="rect">
            <a:avLst/>
          </a:prstGeom>
        </p:spPr>
      </p:pic>
      <p:sp>
        <p:nvSpPr>
          <p:cNvPr id="461" name="TextBox 460"/>
          <p:cNvSpPr txBox="1"/>
          <p:nvPr/>
        </p:nvSpPr>
        <p:spPr>
          <a:xfrm>
            <a:off x="6181344" y="5413247"/>
            <a:ext cx="26791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D22"/>
                </a:solidFill>
                <a:latin typeface="Montserrat"/>
              </a:rPr>
              <a:t>Общий план зимой: стадия S2 при плановой S3</a:t>
            </a:r>
          </a:p>
        </p:txBody>
      </p:sp>
      <p:pic>
        <p:nvPicPr>
          <p:cNvPr id="462" name="Picture 461" descr="c2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88552" y="3858768"/>
            <a:ext cx="2679192" cy="1508760"/>
          </a:xfrm>
          <a:prstGeom prst="rect">
            <a:avLst/>
          </a:prstGeom>
        </p:spPr>
      </p:pic>
      <p:sp>
        <p:nvSpPr>
          <p:cNvPr id="463" name="TextBox 462"/>
          <p:cNvSpPr txBox="1"/>
          <p:nvPr/>
        </p:nvSpPr>
        <p:spPr>
          <a:xfrm>
            <a:off x="8988552" y="5413247"/>
            <a:ext cx="26791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D22"/>
                </a:solidFill>
                <a:latin typeface="Montserrat"/>
              </a:rPr>
              <a:t>Самосвал без экскаватора → нет необходимой техники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1"/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fmla="val 877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fmla="val 877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fmla="val 877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346075" y="324562"/>
            <a:ext cx="4421124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2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79" name="Google Shape;579;p21"/>
          <p:cNvSpPr/>
          <p:nvPr>
            <p:ph idx="1" type="body"/>
          </p:nvPr>
        </p:nvSpPr>
        <p:spPr>
          <a:xfrm>
            <a:off x="6591637" y="1049727"/>
            <a:ext cx="4790314" cy="59781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800"/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0,9 п.п.</a:t>
            </a:r>
          </a:p>
        </p:txBody>
      </p:sp>
      <p:sp>
        <p:nvSpPr>
          <p:cNvPr id="580" name="Google Shape;580;p21"/>
          <p:cNvSpPr txBox="1"/>
          <p:nvPr>
            <p:ph idx="2" type="body"/>
          </p:nvPr>
        </p:nvSpPr>
        <p:spPr>
          <a:xfrm>
            <a:off x="6591637" y="1649793"/>
            <a:ext cx="4790314" cy="779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средняя ошибка готовности 0–100 % после монотонного сглаживания по видео</a:t>
            </a:r>
          </a:p>
        </p:txBody>
      </p:sp>
      <p:sp>
        <p:nvSpPr>
          <p:cNvPr id="581" name="Google Shape;581;p21"/>
          <p:cNvSpPr/>
          <p:nvPr>
            <p:ph idx="3" type="body"/>
          </p:nvPr>
        </p:nvSpPr>
        <p:spPr>
          <a:xfrm>
            <a:off x="6591637" y="2915797"/>
            <a:ext cx="4790314" cy="563519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800"/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99,7 %</a:t>
            </a:r>
          </a:p>
        </p:txBody>
      </p:sp>
      <p:sp>
        <p:nvSpPr>
          <p:cNvPr id="582" name="Google Shape;582;p21"/>
          <p:cNvSpPr txBox="1"/>
          <p:nvPr>
            <p:ph idx="4" type="body"/>
          </p:nvPr>
        </p:nvSpPr>
        <p:spPr>
          <a:xfrm>
            <a:off x="6591637" y="3515862"/>
            <a:ext cx="4790314" cy="869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точность стадии S1–S5 на 4 692 кадрах четырёх таймлапсов</a:t>
            </a:r>
          </a:p>
        </p:txBody>
      </p:sp>
      <p:sp>
        <p:nvSpPr>
          <p:cNvPr id="583" name="Google Shape;583;p21"/>
          <p:cNvSpPr/>
          <p:nvPr>
            <p:ph idx="5" type="body"/>
          </p:nvPr>
        </p:nvSpPr>
        <p:spPr>
          <a:xfrm>
            <a:off x="6591637" y="4871732"/>
            <a:ext cx="4790314" cy="59781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800"/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Стадия ≠ план</a:t>
            </a:r>
          </a:p>
        </p:txBody>
      </p:sp>
      <p:sp>
        <p:nvSpPr>
          <p:cNvPr id="584" name="Google Shape;584;p21"/>
          <p:cNvSpPr txBox="1"/>
          <p:nvPr>
            <p:ph idx="6" type="body"/>
          </p:nvPr>
        </p:nvSpPr>
        <p:spPr>
          <a:xfrm>
            <a:off x="6591637" y="5471798"/>
            <a:ext cx="4790314" cy="848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правило для фасада и отделки, где техники мало; модель работает в сервисе и считает отставание от графика в днях</a:t>
            </a:r>
          </a:p>
        </p:txBody>
      </p:sp>
      <p:graphicFrame>
        <p:nvGraphicFramePr>
          <p:cNvPr id="585" name="Google Shape;585;p21"/>
          <p:cNvGraphicFramePr/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586" name="Google Shape;586;p21"/>
          <p:cNvSpPr txBox="1"/>
          <p:nvPr>
            <p:ph type="title"/>
          </p:nvPr>
        </p:nvSpPr>
        <p:spPr>
          <a:xfrm>
            <a:off x="525817" y="421226"/>
            <a:ext cx="442112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ГОТОВНОСТЬ И СТАДИЯ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Rounded Rectangle 514"/>
          <p:cNvSpPr/>
          <p:nvPr/>
        </p:nvSpPr>
        <p:spPr>
          <a:xfrm>
            <a:off x="347472" y="320040"/>
            <a:ext cx="3634740" cy="621792"/>
          </a:xfrm>
          <a:prstGeom prst="roundRect">
            <a:avLst>
              <a:gd name="adj" fmla="val 3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1" name="Google Shape;501;p17"/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1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05" name="Google Shape;505;p17"/>
          <p:cNvSpPr txBox="1"/>
          <p:nvPr>
            <p:ph idx="1" type="body"/>
          </p:nvPr>
        </p:nvSpPr>
        <p:spPr>
          <a:xfrm>
            <a:off x="780565" y="2493074"/>
            <a:ext cx="2965634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800"/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объектов · 4 000 камер</a:t>
            </a:r>
          </a:p>
        </p:txBody>
      </p:sp>
      <p:sp>
        <p:nvSpPr>
          <p:cNvPr id="506" name="Google Shape;506;p17"/>
          <p:cNvSpPr txBox="1"/>
          <p:nvPr>
            <p:ph idx="2" type="body"/>
          </p:nvPr>
        </p:nvSpPr>
        <p:spPr>
          <a:xfrm>
            <a:off x="780565" y="2926080"/>
            <a:ext cx="296563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Снимок раз в 5 минут: 13 снимков в секунду, 1,15 млн в сутки, ≈ 460 ГБ. Детекция — порядка 10 GPU уровня RTX 4090: каждый снимок распознаётся один раз.</a:t>
            </a:r>
          </a:p>
        </p:txBody>
      </p:sp>
      <p:sp>
        <p:nvSpPr>
          <p:cNvPr id="507" name="Google Shape;507;p17"/>
          <p:cNvSpPr txBox="1"/>
          <p:nvPr>
            <p:ph idx="3" type="body"/>
          </p:nvPr>
        </p:nvSpPr>
        <p:spPr>
          <a:xfrm>
            <a:off x="4623178" y="2493074"/>
            <a:ext cx="303489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800"/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модульный монолит</a:t>
            </a:r>
          </a:p>
        </p:txBody>
      </p:sp>
      <p:sp>
        <p:nvSpPr>
          <p:cNvPr id="508" name="Google Shape;508;p17"/>
          <p:cNvSpPr txBox="1"/>
          <p:nvPr>
            <p:ph idx="4" type="body"/>
          </p:nvPr>
        </p:nvSpPr>
        <p:spPr>
          <a:xfrm>
            <a:off x="4623178" y="2926080"/>
            <a:ext cx="303489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API и воркеры — один код. Очереди съёмки, пересчёта и уведомлений масштабируются горизонтально, AI-сервис — реплики на GPU за балансировщиком.</a:t>
            </a:r>
          </a:p>
        </p:txBody>
      </p:sp>
      <p:sp>
        <p:nvSpPr>
          <p:cNvPr id="509" name="Google Shape;509;p17"/>
          <p:cNvSpPr txBox="1"/>
          <p:nvPr>
            <p:ph idx="5" type="body"/>
          </p:nvPr>
        </p:nvSpPr>
        <p:spPr>
          <a:xfrm>
            <a:off x="8547959" y="2493074"/>
            <a:ext cx="2945464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800"/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безопасность</a:t>
            </a:r>
          </a:p>
        </p:txBody>
      </p:sp>
      <p:sp>
        <p:nvSpPr>
          <p:cNvPr id="510" name="Google Shape;510;p17"/>
          <p:cNvSpPr txBox="1"/>
          <p:nvPr>
            <p:ph idx="6" type="body"/>
          </p:nvPr>
        </p:nvSpPr>
        <p:spPr>
          <a:xfrm>
            <a:off x="8547959" y="2926080"/>
            <a:ext cx="2945464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400" b="0" i="0">
                <a:solidFill>
                  <a:srgbClr val="1C1D22"/>
                </a:solidFill>
                <a:latin typeface="Montserrat"/>
              </a:rPr>
              <a:t>Роли на проект, приватное S3-хранилище с подписанными ссылками, размытие людей до сохранения, хранение в российском облаке.</a:t>
            </a:r>
          </a:p>
        </p:txBody>
      </p:sp>
      <p:sp>
        <p:nvSpPr>
          <p:cNvPr id="511" name="Google Shape;511;p17"/>
          <p:cNvSpPr txBox="1"/>
          <p:nvPr>
            <p:ph type="title"/>
          </p:nvPr>
        </p:nvSpPr>
        <p:spPr>
          <a:xfrm>
            <a:off x="525816" y="420624"/>
            <a:ext cx="3634740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МАСШТАБИРОВАНИЕ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12" name="Google Shape;512;p17"/>
          <p:cNvSpPr txBox="1"/>
          <p:nvPr>
            <p:ph idx="16" type="body"/>
          </p:nvPr>
        </p:nvSpPr>
        <p:spPr>
          <a:xfrm>
            <a:off x="780565" y="1772415"/>
            <a:ext cx="2743200" cy="601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4400"/>
              <a:buNone/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500</a:t>
            </a:r>
          </a:p>
        </p:txBody>
      </p:sp>
      <p:sp>
        <p:nvSpPr>
          <p:cNvPr id="513" name="Google Shape;513;p17"/>
          <p:cNvSpPr txBox="1"/>
          <p:nvPr>
            <p:ph idx="17" type="body"/>
          </p:nvPr>
        </p:nvSpPr>
        <p:spPr>
          <a:xfrm>
            <a:off x="4615219" y="1766200"/>
            <a:ext cx="2743200" cy="572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4400"/>
              <a:buNone/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1 код</a:t>
            </a:r>
          </a:p>
        </p:txBody>
      </p:sp>
      <p:sp>
        <p:nvSpPr>
          <p:cNvPr id="514" name="Google Shape;514;p17"/>
          <p:cNvSpPr txBox="1"/>
          <p:nvPr>
            <p:ph idx="18" type="body"/>
          </p:nvPr>
        </p:nvSpPr>
        <p:spPr>
          <a:xfrm>
            <a:off x="8547959" y="1766043"/>
            <a:ext cx="2743200" cy="57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4400"/>
              <a:buNone/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152-ФЗ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5"/>
          <p:cNvSpPr/>
          <p:nvPr/>
        </p:nvSpPr>
        <p:spPr>
          <a:xfrm>
            <a:off x="346075" y="324562"/>
            <a:ext cx="3831335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2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80" name="Google Shape;680;p25"/>
          <p:cNvSpPr/>
          <p:nvPr>
            <p:ph idx="1" type="body"/>
          </p:nvPr>
        </p:nvSpPr>
        <p:spPr>
          <a:xfrm>
            <a:off x="346075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Детектор v2</a:t>
            </a:r>
          </a:p>
        </p:txBody>
      </p:sp>
      <p:sp>
        <p:nvSpPr>
          <p:cNvPr id="681" name="Google Shape;681;p25"/>
          <p:cNvSpPr txBox="1"/>
          <p:nvPr>
            <p:ph idx="2" type="body"/>
          </p:nvPr>
        </p:nvSpPr>
        <p:spPr>
          <a:xfrm>
            <a:off x="346075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каток и грузовик; метрики по условиям съёмки</a:t>
            </a:r>
          </a:p>
        </p:txBody>
      </p:sp>
      <p:sp>
        <p:nvSpPr>
          <p:cNvPr id="682" name="Google Shape;682;p25"/>
          <p:cNvSpPr/>
          <p:nvPr>
            <p:ph idx="3" type="body"/>
          </p:nvPr>
        </p:nvSpPr>
        <p:spPr>
          <a:xfrm>
            <a:off x="4832960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Пилот на объекте</a:t>
            </a:r>
          </a:p>
        </p:txBody>
      </p:sp>
      <p:sp>
        <p:nvSpPr>
          <p:cNvPr id="683" name="Google Shape;683;p25"/>
          <p:cNvSpPr txBox="1"/>
          <p:nvPr>
            <p:ph idx="4" type="body"/>
          </p:nvPr>
        </p:nvSpPr>
        <p:spPr>
          <a:xfrm>
            <a:off x="4832960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реальные камеры, эталонный кадр, калибровка порогов</a:t>
            </a:r>
          </a:p>
        </p:txBody>
      </p:sp>
      <p:sp>
        <p:nvSpPr>
          <p:cNvPr id="684" name="Google Shape;684;p25"/>
          <p:cNvSpPr/>
          <p:nvPr>
            <p:ph idx="5" type="body"/>
          </p:nvPr>
        </p:nvSpPr>
        <p:spPr>
          <a:xfrm>
            <a:off x="9330862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Детектор v3</a:t>
            </a:r>
          </a:p>
        </p:txBody>
      </p:sp>
      <p:sp>
        <p:nvSpPr>
          <p:cNvPr id="685" name="Google Shape;685;p25"/>
          <p:cNvSpPr txBox="1"/>
          <p:nvPr>
            <p:ph idx="6" type="body"/>
          </p:nvPr>
        </p:nvSpPr>
        <p:spPr>
          <a:xfrm>
            <a:off x="9330862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автобетононасос и асфальтоукладчик в парных правилах</a:t>
            </a:r>
          </a:p>
        </p:txBody>
      </p:sp>
      <p:sp>
        <p:nvSpPr>
          <p:cNvPr id="686" name="Google Shape;686;p25"/>
          <p:cNvSpPr/>
          <p:nvPr>
            <p:ph idx="7" type="body"/>
          </p:nvPr>
        </p:nvSpPr>
        <p:spPr>
          <a:xfrm>
            <a:off x="2593517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Темп и прогноз</a:t>
            </a:r>
          </a:p>
        </p:txBody>
      </p:sp>
      <p:sp>
        <p:nvSpPr>
          <p:cNvPr id="687" name="Google Shape;687;p25"/>
          <p:cNvSpPr txBox="1"/>
          <p:nvPr>
            <p:ph idx="8" type="body"/>
          </p:nvPr>
        </p:nvSpPr>
        <p:spPr>
          <a:xfrm>
            <a:off x="2593517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машино-часы, SPI, прогноз срыва срока по темпу</a:t>
            </a:r>
          </a:p>
        </p:txBody>
      </p:sp>
      <p:sp>
        <p:nvSpPr>
          <p:cNvPr id="688" name="Google Shape;688;p25"/>
          <p:cNvSpPr/>
          <p:nvPr>
            <p:ph idx="9" type="body"/>
          </p:nvPr>
        </p:nvSpPr>
        <p:spPr>
          <a:xfrm>
            <a:off x="7080402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ts val="1600"/>
              <a:buNone/>
            </a:pPr>
            <a:r>
              <a:rPr sz="1400" b="1" i="0">
                <a:solidFill>
                  <a:srgbClr val="520978"/>
                </a:solidFill>
                <a:latin typeface="Montserrat"/>
              </a:rPr>
              <a:t>Интеграции</a:t>
            </a:r>
          </a:p>
        </p:txBody>
      </p:sp>
      <p:sp>
        <p:nvSpPr>
          <p:cNvPr id="689" name="Google Shape;689;p25"/>
          <p:cNvSpPr txBox="1"/>
          <p:nvPr>
            <p:ph idx="13" type="body"/>
          </p:nvPr>
        </p:nvSpPr>
        <p:spPr>
          <a:xfrm>
            <a:off x="7080402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00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график из систем управления проектами, уведомления РП, КПП с номерами</a:t>
            </a:r>
          </a:p>
        </p:txBody>
      </p:sp>
      <p:cxnSp>
        <p:nvCxnSpPr>
          <p:cNvPr id="690" name="Google Shape;690;p25"/>
          <p:cNvCxnSpPr/>
          <p:nvPr/>
        </p:nvCxnSpPr>
        <p:spPr>
          <a:xfrm>
            <a:off x="2065940" y="3860224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1" name="Google Shape;691;p25"/>
          <p:cNvCxnSpPr/>
          <p:nvPr/>
        </p:nvCxnSpPr>
        <p:spPr>
          <a:xfrm>
            <a:off x="4312137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2" name="Google Shape;692;p25"/>
          <p:cNvCxnSpPr/>
          <p:nvPr/>
        </p:nvCxnSpPr>
        <p:spPr>
          <a:xfrm>
            <a:off x="6558334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3" name="Google Shape;693;p25"/>
          <p:cNvCxnSpPr/>
          <p:nvPr/>
        </p:nvCxnSpPr>
        <p:spPr>
          <a:xfrm>
            <a:off x="8780467" y="3862139"/>
            <a:ext cx="133254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4" name="Google Shape;694;p25"/>
          <p:cNvCxnSpPr/>
          <p:nvPr/>
        </p:nvCxnSpPr>
        <p:spPr>
          <a:xfrm>
            <a:off x="1609114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5" name="Google Shape;695;p25"/>
          <p:cNvCxnSpPr/>
          <p:nvPr/>
        </p:nvCxnSpPr>
        <p:spPr>
          <a:xfrm>
            <a:off x="3855312" y="4216228"/>
            <a:ext cx="1245" cy="57506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6" name="Google Shape;696;p25"/>
          <p:cNvCxnSpPr/>
          <p:nvPr/>
        </p:nvCxnSpPr>
        <p:spPr>
          <a:xfrm>
            <a:off x="6096000" y="2934762"/>
            <a:ext cx="5509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7" name="Google Shape;697;p25"/>
          <p:cNvCxnSpPr/>
          <p:nvPr/>
        </p:nvCxnSpPr>
        <p:spPr>
          <a:xfrm flipH="1">
            <a:off x="8343442" y="4216228"/>
            <a:ext cx="4264" cy="57506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8" name="Google Shape;698;p25"/>
          <p:cNvCxnSpPr/>
          <p:nvPr/>
        </p:nvCxnSpPr>
        <p:spPr>
          <a:xfrm>
            <a:off x="10593901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99" name="Google Shape;699;p25"/>
          <p:cNvSpPr/>
          <p:nvPr/>
        </p:nvSpPr>
        <p:spPr>
          <a:xfrm>
            <a:off x="1191126" y="3508049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700" name="Google Shape;700;p25"/>
          <p:cNvSpPr/>
          <p:nvPr/>
        </p:nvSpPr>
        <p:spPr>
          <a:xfrm>
            <a:off x="3412397" y="350613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701" name="Google Shape;701;p25"/>
          <p:cNvSpPr/>
          <p:nvPr/>
        </p:nvSpPr>
        <p:spPr>
          <a:xfrm>
            <a:off x="5658594" y="351625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702" name="Google Shape;702;p25"/>
          <p:cNvSpPr/>
          <p:nvPr/>
        </p:nvSpPr>
        <p:spPr>
          <a:xfrm>
            <a:off x="7889752" y="350613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703" name="Google Shape;703;p25"/>
          <p:cNvSpPr/>
          <p:nvPr/>
        </p:nvSpPr>
        <p:spPr>
          <a:xfrm>
            <a:off x="10113012" y="353862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/>
          </a:p>
        </p:txBody>
      </p:sp>
      <p:sp>
        <p:nvSpPr>
          <p:cNvPr id="704" name="Google Shape;704;p25"/>
          <p:cNvSpPr txBox="1"/>
          <p:nvPr>
            <p:ph type="title"/>
          </p:nvPr>
        </p:nvSpPr>
        <p:spPr>
          <a:xfrm>
            <a:off x="525817" y="421226"/>
            <a:ext cx="3831335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РАЗВИТИЕ РЕШЕНИЯ</a:t>
            </a:r>
            <a:endParaRPr/>
          </a:p>
        </p:txBody>
      </p:sp>
      <p:sp>
        <p:nvSpPr>
          <p:cNvPr id="705" name="Google Shape;705;p25"/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25"/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0"/>
          <p:cNvSpPr/>
          <p:nvPr/>
        </p:nvSpPr>
        <p:spPr>
          <a:xfrm>
            <a:off x="346075" y="324562"/>
            <a:ext cx="520750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20"/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fmla="val 291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20"/>
          <p:cNvSpPr txBox="1"/>
          <p:nvPr>
            <p:ph idx="1" type="body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F2F2F2"/>
              </a:buClr>
              <a:buSzPts val="3600"/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Три роли камер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Общий план</a:t>
            </a:r>
            <a:r>
              <a:rPr sz="1300" b="0" i="0">
                <a:solidFill>
                  <a:srgbClr val="1C1D22"/>
                </a:solidFill>
                <a:latin typeface="Montserrat"/>
              </a:rPr>
              <a:t> — мачта или кран, 15–40 м: стадия и готовность, вся площадка; 1–2 на объект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Зональная</a:t>
            </a:r>
            <a:r>
              <a:rPr sz="1300" b="0" i="0">
                <a:solidFill>
                  <a:srgbClr val="1C1D22"/>
                </a:solidFill>
                <a:latin typeface="Montserrat"/>
              </a:rPr>
              <a:t> — 6–10 м: уверенный счёт техники в захватке; по одной на захватку с техникой</a:t>
            </a:r>
          </a:p>
          <a:p>
            <a:pPr marL="182880" indent="-182880" algn="l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sz="1300" b="1" i="0">
                <a:solidFill>
                  <a:srgbClr val="1C1D22"/>
                </a:solidFill>
                <a:latin typeface="Montserrat"/>
              </a:rPr>
              <a:t>Въезд</a:t>
            </a:r>
            <a:r>
              <a:rPr sz="1300" b="0" i="0">
                <a:solidFill>
                  <a:srgbClr val="1C1D22"/>
                </a:solidFill>
                <a:latin typeface="Montserrat"/>
              </a:rPr>
              <a:t> — КПП: учёт техники, в развитии — сверка номеров</a:t>
            </a:r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Типовой жилой дом 1–2 га: 6–9 камер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520978"/>
                </a:solidFill>
                <a:latin typeface="Montserrat"/>
              </a:rPr>
              <a:t>Приёмка камеры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тестовый снимок с техникой даёт рамки с уверенностью выше 0,5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время на кадре совпадает с NTP, ночной снимок проходит контроль качества</a:t>
            </a:r>
          </a:p>
          <a:p>
            <a:pPr marL="182880" indent="-182880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эталонный кадр сохранён — сдвиг камеры виден сразу</a:t>
            </a:r>
          </a:p>
        </p:txBody>
      </p:sp>
      <p:sp>
        <p:nvSpPr>
          <p:cNvPr id="563" name="Google Shape;563;p20"/>
          <p:cNvSpPr txBox="1"/>
          <p:nvPr>
            <p:ph idx="2" type="body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Наклон 20–45°; техника от 120–150 px по ширине при 1080p, мельче — фрагменты 3×3</a:t>
            </a:r>
          </a:p>
        </p:txBody>
      </p:sp>
      <p:sp>
        <p:nvSpPr>
          <p:cNvPr id="564" name="Google Shape;564;p20"/>
          <p:cNvSpPr txBox="1"/>
          <p:nvPr>
            <p:ph idx="3" type="body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Зональные ≥ 1080p, общий план ≥ 4 Мп; снимок раз в 5 минут</a:t>
            </a:r>
          </a:p>
        </p:txBody>
      </p:sp>
      <p:sp>
        <p:nvSpPr>
          <p:cNvPr id="565" name="Google Shape;565;p20"/>
          <p:cNvSpPr txBox="1"/>
          <p:nvPr>
            <p:ph idx="4" type="body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NTP и дата на кадре; ИК-подсветка там, где работают ночью</a:t>
            </a:r>
          </a:p>
        </p:txBody>
      </p:sp>
      <p:sp>
        <p:nvSpPr>
          <p:cNvPr id="566" name="Google Shape;566;p20"/>
          <p:cNvSpPr txBox="1"/>
          <p:nvPr>
            <p:ph idx="5" type="body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Зона целиком в кадре и названа так же, как захватка в графике</a:t>
            </a:r>
          </a:p>
        </p:txBody>
      </p:sp>
      <p:sp>
        <p:nvSpPr>
          <p:cNvPr id="567" name="Google Shape;567;p20"/>
          <p:cNvSpPr txBox="1"/>
          <p:nvPr>
            <p:ph idx="6" type="body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1452"/>
              <a:buNone/>
            </a:pPr>
            <a:r>
              <a:rPr sz="1200" b="0" i="0">
                <a:solidFill>
                  <a:srgbClr val="1C1D22"/>
                </a:solidFill>
                <a:latin typeface="Montserrat"/>
              </a:rPr>
              <a:t>IP66/67, WDR, не против солнца; эталонный кадр при приёмке</a:t>
            </a:r>
          </a:p>
        </p:txBody>
      </p:sp>
      <p:sp>
        <p:nvSpPr>
          <p:cNvPr id="568" name="Google Shape;568;p20"/>
          <p:cNvSpPr txBox="1"/>
          <p:nvPr>
            <p:ph idx="4294967295" type="sldNum"/>
          </p:nvPr>
        </p:nvSpPr>
        <p:spPr>
          <a:xfrm>
            <a:off x="11633200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69" name="Google Shape;569;p20"/>
          <p:cNvSpPr txBox="1"/>
          <p:nvPr>
            <p:ph type="title"/>
          </p:nvPr>
        </p:nvSpPr>
        <p:spPr>
          <a:xfrm>
            <a:off x="525817" y="421226"/>
            <a:ext cx="5207508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sz="2000" b="1">
                <a:latin typeface="Montserrat"/>
              </a:rPr>
              <a:t>РЕКОМЕНДАЦИИ ПО КАМЕРАМ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"/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12"/>
          <p:cNvSpPr txBox="1"/>
          <p:nvPr>
            <p:ph idx="1" type="body"/>
          </p:nvPr>
        </p:nvSpPr>
        <p:spPr>
          <a:xfrm>
            <a:off x="521133" y="1263123"/>
            <a:ext cx="5574868" cy="4937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400"/>
              </a:spcAft>
              <a:buClr>
                <a:srgbClr val="F2F2F2"/>
              </a:buClr>
              <a:buSzPts val="1452"/>
              <a:buNone/>
            </a:pPr>
            <a:r>
              <a:rPr sz="1400" b="1" i="0">
                <a:solidFill>
                  <a:srgbClr val="1C1D22"/>
                </a:solidFill>
                <a:latin typeface="Montserrat"/>
              </a:rPr>
              <a:t>Снимок → техника → этап графика → предупреждение с доказательствами → нарушение.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Прототип: docker compose up --build → localhost:8000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Код: github.com/Antonoof/Intelligent-construction-site-monitoring-system</a:t>
            </a:r>
          </a:p>
          <a:p>
            <a:pPr marL="182880" indent="-18288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Документация: docs/ОКО_документация.pdf, краткое описание, рекомендации по камерам</a:t>
            </a:r>
          </a:p>
          <a:p>
            <a:pPr marL="182880" indent="-182880">
              <a:spcBef>
                <a:spcPts val="0"/>
              </a:spcBef>
              <a:spcAft>
                <a:spcPts val="1400"/>
              </a:spcAft>
              <a:buClr>
                <a:srgbClr val="FF0053"/>
              </a:buClr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Лендинг и экономика: garyanikin.github.io/oko-landing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2200" b="1" i="0">
                <a:solidFill>
                  <a:srgbClr val="FF0053"/>
                </a:solidFill>
                <a:latin typeface="Montserrat"/>
              </a:rPr>
              <a:t>Спасибо!</a:t>
            </a:r>
          </a:p>
        </p:txBody>
      </p:sp>
      <p:sp>
        <p:nvSpPr>
          <p:cNvPr id="438" name="Google Shape;438;p1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9" name="Google Shape;439;p12"/>
          <p:cNvSpPr txBox="1"/>
          <p:nvPr>
            <p:ph type="title"/>
          </p:nvPr>
        </p:nvSpPr>
        <p:spPr>
          <a:xfrm>
            <a:off x="527444" y="395288"/>
            <a:ext cx="5574868" cy="4257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F2F2F2"/>
              </a:buClr>
              <a:buSzPts val="2000"/>
              <a:buFont typeface="Montserrat"/>
              <a:buNone/>
            </a:pPr>
            <a:r>
              <a:rPr sz="2800" b="1" i="0">
                <a:solidFill>
                  <a:srgbClr val="520978"/>
                </a:solidFill>
                <a:latin typeface="Montserrat"/>
              </a:rPr>
              <a:t>ОКО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2023-05-15T07:36:23Z</dcterms:created>
  <dc:creator>Анастасия Юшкова</dc:creator>
</cp:coreProperties>
</file>