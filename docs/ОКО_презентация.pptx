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93" r:id="rId60"/>
    <p:sldId id="294" r:id="rId61"/>
    <p:sldId id="295" r:id="rId62"/>
    <p:sldId id="296" r:id="rId63"/>
    <p:sldId id="297" r:id="rId64"/>
    <p:sldId id="298" r:id="rId65"/>
    <p:sldId id="299" r:id="rId66"/>
    <p:sldId id="300" r:id="rId67"/>
    <p:sldId id="301" r:id="rId68"/>
    <p:sldId id="302" r:id="rId69"/>
    <p:sldId id="303" r:id="rId70"/>
    <p:sldId id="304" r:id="rId71"/>
    <p:sldId id="305" r:id="rId72"/>
    <p:sldId id="306" r:id="rId73"/>
    <p:sldId id="307" r:id="rId74"/>
    <p:sldId id="308" r:id="rId75"/>
    <p:sldId id="309" r:id="rId76"/>
    <p:sldId id="310" r:id="rId77"/>
    <p:sldId id="311" r:id="rId78"/>
    <p:sldId id="312" r:id="rId79"/>
    <p:sldId id="313" r:id="rId80"/>
  </p:sldIdLst>
  <p:sldSz cy="6858000" cx="12192000"/>
  <p:notesSz cx="6858000" cy="9144000"/>
  <p:embeddedFontLst>
    <p:embeddedFont>
      <p:font typeface="Montserrat"/>
      <p:regular r:id="rId43"/>
      <p:bold r:id="rId44"/>
      <p:italic r:id="rId45"/>
      <p:boldItalic r:id="rId46"/>
    </p:embeddedFont>
    <p:embeddedFont>
      <p:font typeface="Montserrat Medium"/>
      <p:regular r:id="rId47"/>
      <p:bold r:id="rId48"/>
      <p:italic r:id="rId49"/>
      <p:boldItalic r:id="rId50"/>
    </p:embeddedFont>
    <p:embeddedFont>
      <p:font typeface="Lato Light"/>
      <p:regular r:id="rId51"/>
      <p:bold r:id="rId52"/>
      <p:italic r:id="rId53"/>
      <p:boldItalic r:id="rId54"/>
    </p:embeddedFont>
    <p:embeddedFont>
      <p:font typeface="Poppins Light"/>
      <p:regular r:id="rId55"/>
      <p:bold r:id="rId56"/>
      <p:italic r:id="rId57"/>
      <p:boldItalic r:id="rId5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  <p:ext uri="GoogleSlidesCustomDataVersion2">
      <go:slidesCustomData xmlns:go="http://customooxmlschemas.google.com/" r:id="rId59" roundtripDataSignature="AMtx7mjXA+t8oVXkjA8ocTCqZnn5fhGBY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43" Type="http://schemas.openxmlformats.org/officeDocument/2006/relationships/font" Target="fonts/Montserrat-regular.fntdata"/><Relationship Id="rId44" Type="http://schemas.openxmlformats.org/officeDocument/2006/relationships/font" Target="fonts/Montserrat-bold.fntdata"/><Relationship Id="rId45" Type="http://schemas.openxmlformats.org/officeDocument/2006/relationships/font" Target="fonts/Montserrat-italic.fntdata"/><Relationship Id="rId46" Type="http://schemas.openxmlformats.org/officeDocument/2006/relationships/font" Target="fonts/Montserrat-boldItalic.fntdata"/><Relationship Id="rId47" Type="http://schemas.openxmlformats.org/officeDocument/2006/relationships/font" Target="fonts/MontserratMedium-regular.fntdata"/><Relationship Id="rId48" Type="http://schemas.openxmlformats.org/officeDocument/2006/relationships/font" Target="fonts/MontserratMedium-bold.fntdata"/><Relationship Id="rId49" Type="http://schemas.openxmlformats.org/officeDocument/2006/relationships/font" Target="fonts/MontserratMedium-italic.fntdata"/><Relationship Id="rId50" Type="http://schemas.openxmlformats.org/officeDocument/2006/relationships/font" Target="fonts/MontserratMedium-boldItalic.fntdata"/><Relationship Id="rId51" Type="http://schemas.openxmlformats.org/officeDocument/2006/relationships/font" Target="fonts/LatoLight-regular.fntdata"/><Relationship Id="rId52" Type="http://schemas.openxmlformats.org/officeDocument/2006/relationships/font" Target="fonts/LatoLight-bold.fntdata"/><Relationship Id="rId53" Type="http://schemas.openxmlformats.org/officeDocument/2006/relationships/font" Target="fonts/LatoLight-italic.fntdata"/><Relationship Id="rId54" Type="http://schemas.openxmlformats.org/officeDocument/2006/relationships/font" Target="fonts/LatoLight-boldItalic.fntdata"/><Relationship Id="rId55" Type="http://schemas.openxmlformats.org/officeDocument/2006/relationships/font" Target="fonts/PoppinsLight-regular.fntdata"/><Relationship Id="rId56" Type="http://schemas.openxmlformats.org/officeDocument/2006/relationships/font" Target="fonts/PoppinsLight-bold.fntdata"/><Relationship Id="rId57" Type="http://schemas.openxmlformats.org/officeDocument/2006/relationships/font" Target="fonts/PoppinsLight-italic.fntdata"/><Relationship Id="rId58" Type="http://schemas.openxmlformats.org/officeDocument/2006/relationships/font" Target="fonts/PoppinsLight-boldItalic.fntdata"/><Relationship Id="rId59" Type="http://customschemas.google.com/relationships/presentationmetadata" Target="metadata"/><Relationship Id="rId60" Type="http://schemas.openxmlformats.org/officeDocument/2006/relationships/slide" Target="slides/slide1.xml"/><Relationship Id="rId61" Type="http://schemas.openxmlformats.org/officeDocument/2006/relationships/slide" Target="slides/slide2.xml"/><Relationship Id="rId62" Type="http://schemas.openxmlformats.org/officeDocument/2006/relationships/slide" Target="slides/slide3.xml"/><Relationship Id="rId63" Type="http://schemas.openxmlformats.org/officeDocument/2006/relationships/slide" Target="slides/slide4.xml"/><Relationship Id="rId64" Type="http://schemas.openxmlformats.org/officeDocument/2006/relationships/slide" Target="slides/slide5.xml"/><Relationship Id="rId65" Type="http://schemas.openxmlformats.org/officeDocument/2006/relationships/slide" Target="slides/slide6.xml"/><Relationship Id="rId66" Type="http://schemas.openxmlformats.org/officeDocument/2006/relationships/slide" Target="slides/slide7.xml"/><Relationship Id="rId67" Type="http://schemas.openxmlformats.org/officeDocument/2006/relationships/slide" Target="slides/slide8.xml"/><Relationship Id="rId68" Type="http://schemas.openxmlformats.org/officeDocument/2006/relationships/slide" Target="slides/slide9.xml"/><Relationship Id="rId69" Type="http://schemas.openxmlformats.org/officeDocument/2006/relationships/slide" Target="slides/slide10.xml"/><Relationship Id="rId70" Type="http://schemas.openxmlformats.org/officeDocument/2006/relationships/slide" Target="slides/slide11.xml"/><Relationship Id="rId71" Type="http://schemas.openxmlformats.org/officeDocument/2006/relationships/slide" Target="slides/slide12.xml"/><Relationship Id="rId72" Type="http://schemas.openxmlformats.org/officeDocument/2006/relationships/slide" Target="slides/slide13.xml"/><Relationship Id="rId73" Type="http://schemas.openxmlformats.org/officeDocument/2006/relationships/slide" Target="slides/slide14.xml"/><Relationship Id="rId74" Type="http://schemas.openxmlformats.org/officeDocument/2006/relationships/slide" Target="slides/slide15.xml"/><Relationship Id="rId75" Type="http://schemas.openxmlformats.org/officeDocument/2006/relationships/slide" Target="slides/slide16.xml"/><Relationship Id="rId76" Type="http://schemas.openxmlformats.org/officeDocument/2006/relationships/slide" Target="slides/slide17.xml"/><Relationship Id="rId77" Type="http://schemas.openxmlformats.org/officeDocument/2006/relationships/slide" Target="slides/slide18.xml"/><Relationship Id="rId78" Type="http://schemas.openxmlformats.org/officeDocument/2006/relationships/slide" Target="slides/slide19.xml"/><Relationship Id="rId79" Type="http://schemas.openxmlformats.org/officeDocument/2006/relationships/slide" Target="slides/slide20.xml"/><Relationship Id="rId80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ошибка по кадрам, п.п.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video1</c:v>
                </c:pt>
                <c:pt idx="1">
                  <c:v>video2</c:v>
                </c:pt>
                <c:pt idx="2">
                  <c:v>video3</c:v>
                </c:pt>
                <c:pt idx="3">
                  <c:v>video4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1.1</c:v>
                </c:pt>
                <c:pt idx="1">
                  <c:v>1.3</c:v>
                </c:pt>
                <c:pt idx="2">
                  <c:v>1.4</c:v>
                </c:pt>
                <c:pt idx="3">
                  <c:v>1.0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ошибка итога, п.п.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video1</c:v>
                </c:pt>
                <c:pt idx="1">
                  <c:v>video2</c:v>
                </c:pt>
                <c:pt idx="2">
                  <c:v>video3</c:v>
                </c:pt>
                <c:pt idx="3">
                  <c:v>video4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</c:v>
                </c:pt>
                <c:pt idx="1">
                  <c:v>1.1</c:v>
                </c:pt>
                <c:pt idx="2">
                  <c:v>1.0</c:v>
                </c:pt>
                <c:pt idx="3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ОКО — сервис, который по снимкам камер находит технику, сверяет её с календарным графиком и выдаёт предупреждения с доказательствами. Задача Департамента градостроительной политики.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Блок «О команде» заполняет команда: капитан, участники, город.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Ключевой слайд: как снимок связывается с этапом календарного графика.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исунок с подписью">
  <p:cSld name="Рисунок с подписью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9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9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9"/>
          <p:cNvSpPr txBox="1"/>
          <p:nvPr>
            <p:ph type="ctrTitle"/>
          </p:nvPr>
        </p:nvSpPr>
        <p:spPr>
          <a:xfrm>
            <a:off x="802640" y="3922529"/>
            <a:ext cx="5293359" cy="16545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800"/>
              <a:buFont typeface="Montserrat"/>
              <a:buNone/>
              <a:defRPr sz="2800">
                <a:solidFill>
                  <a:srgbClr val="F2F2F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9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 с заголовком">
  <p:cSld name="Пустой с заголовком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0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0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0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Команда">
  <p:cSld name="Команда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1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1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1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8" name="Google Shape;28;p41"/>
          <p:cNvSpPr txBox="1"/>
          <p:nvPr>
            <p:ph type="title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1"/>
          <p:cNvSpPr txBox="1"/>
          <p:nvPr>
            <p:ph idx="1" type="body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41"/>
          <p:cNvSpPr txBox="1"/>
          <p:nvPr>
            <p:ph idx="2" type="body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41"/>
          <p:cNvSpPr txBox="1"/>
          <p:nvPr>
            <p:ph idx="3" type="body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41"/>
          <p:cNvSpPr txBox="1"/>
          <p:nvPr>
            <p:ph idx="4" type="body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41"/>
          <p:cNvSpPr txBox="1"/>
          <p:nvPr>
            <p:ph idx="5" type="body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">
  <p:cSld name="Титульный слайд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2"/>
          <p:cNvSpPr/>
          <p:nvPr>
            <p:ph idx="2" type="pic"/>
          </p:nvPr>
        </p:nvSpPr>
        <p:spPr>
          <a:xfrm>
            <a:off x="6792000" y="395288"/>
            <a:ext cx="5400000" cy="5400000"/>
          </a:xfrm>
          <a:prstGeom prst="rect">
            <a:avLst/>
          </a:prstGeom>
          <a:noFill/>
          <a:ln>
            <a:noFill/>
          </a:ln>
        </p:spPr>
      </p:sp>
      <p:sp>
        <p:nvSpPr>
          <p:cNvPr id="36" name="Google Shape;36;p42"/>
          <p:cNvSpPr txBox="1"/>
          <p:nvPr>
            <p:ph type="ctrTitle"/>
          </p:nvPr>
        </p:nvSpPr>
        <p:spPr>
          <a:xfrm>
            <a:off x="0" y="4323440"/>
            <a:ext cx="8930641" cy="82701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800"/>
              <a:buFont typeface="Montserrat"/>
              <a:buNone/>
              <a:defRPr sz="2800">
                <a:solidFill>
                  <a:srgbClr val="F2F2F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42"/>
          <p:cNvSpPr/>
          <p:nvPr>
            <p:ph idx="3" type="pic"/>
          </p:nvPr>
        </p:nvSpPr>
        <p:spPr>
          <a:xfrm>
            <a:off x="802640" y="2911980"/>
            <a:ext cx="3386773" cy="1082589"/>
          </a:xfrm>
          <a:prstGeom prst="rect">
            <a:avLst/>
          </a:prstGeom>
          <a:noFill/>
          <a:ln>
            <a:noFill/>
          </a:ln>
        </p:spPr>
      </p:sp>
      <p:sp>
        <p:nvSpPr>
          <p:cNvPr id="38" name="Google Shape;38;p42"/>
          <p:cNvSpPr txBox="1"/>
          <p:nvPr>
            <p:ph idx="1" type="body"/>
          </p:nvPr>
        </p:nvSpPr>
        <p:spPr>
          <a:xfrm>
            <a:off x="0" y="5149851"/>
            <a:ext cx="8930641" cy="7571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Описание команды">
  <p:cSld name="1_Описание команды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43"/>
          <p:cNvSpPr/>
          <p:nvPr>
            <p:ph idx="2" type="pic"/>
          </p:nvPr>
        </p:nvSpPr>
        <p:spPr>
          <a:xfrm>
            <a:off x="6894095" y="1044081"/>
            <a:ext cx="4962943" cy="2221824"/>
          </a:xfrm>
          <a:prstGeom prst="rect">
            <a:avLst/>
          </a:prstGeom>
          <a:noFill/>
          <a:ln>
            <a:noFill/>
          </a:ln>
        </p:spPr>
      </p:sp>
      <p:sp>
        <p:nvSpPr>
          <p:cNvPr id="41" name="Google Shape;41;p43"/>
          <p:cNvSpPr txBox="1"/>
          <p:nvPr>
            <p:ph type="title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одержание_1">
  <p:cSld name="Содержание_1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4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44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44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46" name="Google Shape;46;p44"/>
          <p:cNvSpPr txBox="1"/>
          <p:nvPr>
            <p:ph idx="1" type="body"/>
          </p:nvPr>
        </p:nvSpPr>
        <p:spPr>
          <a:xfrm>
            <a:off x="1873541" y="1222713"/>
            <a:ext cx="3866856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44"/>
          <p:cNvSpPr txBox="1"/>
          <p:nvPr>
            <p:ph idx="2" type="body"/>
          </p:nvPr>
        </p:nvSpPr>
        <p:spPr>
          <a:xfrm>
            <a:off x="1873544" y="1790324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44"/>
          <p:cNvSpPr txBox="1"/>
          <p:nvPr>
            <p:ph idx="3" type="body"/>
          </p:nvPr>
        </p:nvSpPr>
        <p:spPr>
          <a:xfrm>
            <a:off x="1854185" y="2826697"/>
            <a:ext cx="3866856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44"/>
          <p:cNvSpPr txBox="1"/>
          <p:nvPr>
            <p:ph idx="4" type="body"/>
          </p:nvPr>
        </p:nvSpPr>
        <p:spPr>
          <a:xfrm>
            <a:off x="1854185" y="3374436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44"/>
          <p:cNvSpPr txBox="1"/>
          <p:nvPr>
            <p:ph idx="5" type="body"/>
          </p:nvPr>
        </p:nvSpPr>
        <p:spPr>
          <a:xfrm>
            <a:off x="1854185" y="4410809"/>
            <a:ext cx="3866856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44"/>
          <p:cNvSpPr txBox="1"/>
          <p:nvPr>
            <p:ph idx="6" type="body"/>
          </p:nvPr>
        </p:nvSpPr>
        <p:spPr>
          <a:xfrm>
            <a:off x="1854185" y="4958548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44"/>
          <p:cNvSpPr txBox="1"/>
          <p:nvPr>
            <p:ph idx="7" type="body"/>
          </p:nvPr>
        </p:nvSpPr>
        <p:spPr>
          <a:xfrm>
            <a:off x="7546648" y="1222713"/>
            <a:ext cx="3866856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" name="Google Shape;53;p44"/>
          <p:cNvSpPr txBox="1"/>
          <p:nvPr>
            <p:ph idx="8" type="body"/>
          </p:nvPr>
        </p:nvSpPr>
        <p:spPr>
          <a:xfrm>
            <a:off x="7546651" y="1790324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44"/>
          <p:cNvSpPr txBox="1"/>
          <p:nvPr>
            <p:ph idx="9" type="body"/>
          </p:nvPr>
        </p:nvSpPr>
        <p:spPr>
          <a:xfrm>
            <a:off x="7527292" y="2826697"/>
            <a:ext cx="3866856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44"/>
          <p:cNvSpPr txBox="1"/>
          <p:nvPr>
            <p:ph idx="13" type="body"/>
          </p:nvPr>
        </p:nvSpPr>
        <p:spPr>
          <a:xfrm>
            <a:off x="7527292" y="3374436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44"/>
          <p:cNvSpPr txBox="1"/>
          <p:nvPr>
            <p:ph idx="14" type="body"/>
          </p:nvPr>
        </p:nvSpPr>
        <p:spPr>
          <a:xfrm>
            <a:off x="7527292" y="4410809"/>
            <a:ext cx="3866856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" name="Google Shape;57;p44"/>
          <p:cNvSpPr txBox="1"/>
          <p:nvPr>
            <p:ph idx="15" type="body"/>
          </p:nvPr>
        </p:nvSpPr>
        <p:spPr>
          <a:xfrm>
            <a:off x="7527292" y="4958548"/>
            <a:ext cx="3866856" cy="67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8" name="Google Shape;58;p44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44"/>
          <p:cNvSpPr txBox="1"/>
          <p:nvPr>
            <p:ph idx="16" type="body"/>
          </p:nvPr>
        </p:nvSpPr>
        <p:spPr>
          <a:xfrm>
            <a:off x="778493" y="1187988"/>
            <a:ext cx="771003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b="0" sz="2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44"/>
          <p:cNvSpPr txBox="1"/>
          <p:nvPr>
            <p:ph idx="17" type="body"/>
          </p:nvPr>
        </p:nvSpPr>
        <p:spPr>
          <a:xfrm>
            <a:off x="759137" y="2791972"/>
            <a:ext cx="771003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b="0" sz="2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44"/>
          <p:cNvSpPr txBox="1"/>
          <p:nvPr>
            <p:ph idx="18" type="body"/>
          </p:nvPr>
        </p:nvSpPr>
        <p:spPr>
          <a:xfrm>
            <a:off x="759137" y="4376084"/>
            <a:ext cx="771003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b="0" sz="2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2" name="Google Shape;62;p44"/>
          <p:cNvSpPr txBox="1"/>
          <p:nvPr>
            <p:ph idx="19" type="body"/>
          </p:nvPr>
        </p:nvSpPr>
        <p:spPr>
          <a:xfrm>
            <a:off x="6451600" y="1187988"/>
            <a:ext cx="771003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b="0" sz="2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3" name="Google Shape;63;p44"/>
          <p:cNvSpPr txBox="1"/>
          <p:nvPr>
            <p:ph idx="20" type="body"/>
          </p:nvPr>
        </p:nvSpPr>
        <p:spPr>
          <a:xfrm>
            <a:off x="6432244" y="2791972"/>
            <a:ext cx="771003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b="0" sz="2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" name="Google Shape;64;p44"/>
          <p:cNvSpPr txBox="1"/>
          <p:nvPr>
            <p:ph idx="21" type="body"/>
          </p:nvPr>
        </p:nvSpPr>
        <p:spPr>
          <a:xfrm>
            <a:off x="6432244" y="4376084"/>
            <a:ext cx="771003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b="0" sz="2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объект">
  <p:cSld name="Заголовок и объект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5"/>
          <p:cNvSpPr txBox="1"/>
          <p:nvPr>
            <p:ph idx="1" type="body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802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Char char="•"/>
              <a:defRPr>
                <a:solidFill>
                  <a:srgbClr val="F2F2F2"/>
                </a:solidFill>
              </a:defRPr>
            </a:lvl1pPr>
            <a:lvl2pPr indent="-309309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271"/>
              <a:buChar char="•"/>
              <a:defRPr>
                <a:solidFill>
                  <a:srgbClr val="F2F2F2"/>
                </a:solidFill>
              </a:defRPr>
            </a:lvl2pPr>
            <a:lvl3pPr indent="-29191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997"/>
              <a:buChar char="•"/>
              <a:defRPr>
                <a:solidFill>
                  <a:srgbClr val="F2F2F2"/>
                </a:solidFill>
              </a:defRPr>
            </a:lvl3pPr>
            <a:lvl4pPr indent="-286195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907"/>
              <a:buChar char="•"/>
              <a:defRPr>
                <a:solidFill>
                  <a:srgbClr val="F2F2F2"/>
                </a:solidFill>
              </a:defRPr>
            </a:lvl4pPr>
            <a:lvl5pPr indent="-286195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907"/>
              <a:buChar char="•"/>
              <a:defRPr>
                <a:solidFill>
                  <a:srgbClr val="F2F2F2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45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45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45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70" name="Google Shape;70;p45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  <a:defRPr>
                <a:solidFill>
                  <a:srgbClr val="F2F2F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отографии">
  <p:cSld name="Фотографии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6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46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46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75" name="Google Shape;75;p46"/>
          <p:cNvSpPr txBox="1"/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6"/>
          <p:cNvSpPr/>
          <p:nvPr>
            <p:ph idx="2" type="pic"/>
          </p:nvPr>
        </p:nvSpPr>
        <p:spPr>
          <a:xfrm>
            <a:off x="7440147" y="1016001"/>
            <a:ext cx="4405777" cy="3078479"/>
          </a:xfrm>
          <a:prstGeom prst="rect">
            <a:avLst/>
          </a:prstGeom>
          <a:noFill/>
          <a:ln>
            <a:noFill/>
          </a:ln>
        </p:spPr>
      </p:sp>
      <p:sp>
        <p:nvSpPr>
          <p:cNvPr id="77" name="Google Shape;77;p46"/>
          <p:cNvSpPr/>
          <p:nvPr>
            <p:ph idx="3" type="pic"/>
          </p:nvPr>
        </p:nvSpPr>
        <p:spPr>
          <a:xfrm>
            <a:off x="7440149" y="4389108"/>
            <a:ext cx="4405775" cy="1811668"/>
          </a:xfrm>
          <a:prstGeom prst="rect">
            <a:avLst/>
          </a:prstGeom>
          <a:noFill/>
          <a:ln>
            <a:noFill/>
          </a:ln>
        </p:spPr>
      </p:sp>
      <p:sp>
        <p:nvSpPr>
          <p:cNvPr id="78" name="Google Shape;78;p46"/>
          <p:cNvSpPr/>
          <p:nvPr>
            <p:ph idx="4" type="pic"/>
          </p:nvPr>
        </p:nvSpPr>
        <p:spPr>
          <a:xfrm>
            <a:off x="346075" y="3223948"/>
            <a:ext cx="6806142" cy="2976827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46"/>
          <p:cNvSpPr txBox="1"/>
          <p:nvPr>
            <p:ph idx="1" type="body"/>
          </p:nvPr>
        </p:nvSpPr>
        <p:spPr>
          <a:xfrm>
            <a:off x="346075" y="1016001"/>
            <a:ext cx="6806142" cy="20298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нкты">
  <p:cSld name="Пункты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47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47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47"/>
          <p:cNvSpPr txBox="1"/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47"/>
          <p:cNvSpPr txBox="1"/>
          <p:nvPr>
            <p:ph idx="1" type="body"/>
          </p:nvPr>
        </p:nvSpPr>
        <p:spPr>
          <a:xfrm>
            <a:off x="1994303" y="2973742"/>
            <a:ext cx="2190810" cy="9105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5" name="Google Shape;85;p47"/>
          <p:cNvSpPr txBox="1"/>
          <p:nvPr>
            <p:ph idx="2" type="body"/>
          </p:nvPr>
        </p:nvSpPr>
        <p:spPr>
          <a:xfrm>
            <a:off x="6662924" y="1588128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6" name="Google Shape;86;p47"/>
          <p:cNvSpPr txBox="1"/>
          <p:nvPr>
            <p:ph idx="3" type="body"/>
          </p:nvPr>
        </p:nvSpPr>
        <p:spPr>
          <a:xfrm>
            <a:off x="6662924" y="2445138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7" name="Google Shape;87;p47"/>
          <p:cNvSpPr txBox="1"/>
          <p:nvPr>
            <p:ph idx="4" type="body"/>
          </p:nvPr>
        </p:nvSpPr>
        <p:spPr>
          <a:xfrm>
            <a:off x="6662924" y="3302147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47"/>
          <p:cNvSpPr txBox="1"/>
          <p:nvPr>
            <p:ph idx="5" type="body"/>
          </p:nvPr>
        </p:nvSpPr>
        <p:spPr>
          <a:xfrm>
            <a:off x="6662924" y="4159156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47"/>
          <p:cNvSpPr txBox="1"/>
          <p:nvPr>
            <p:ph idx="6" type="body"/>
          </p:nvPr>
        </p:nvSpPr>
        <p:spPr>
          <a:xfrm>
            <a:off x="6662924" y="5016166"/>
            <a:ext cx="4902200" cy="7125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татистика">
  <p:cSld name="Статистика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48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48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48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94" name="Google Shape;94;p48"/>
          <p:cNvSpPr txBox="1"/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48"/>
          <p:cNvSpPr/>
          <p:nvPr>
            <p:ph idx="1" type="body"/>
          </p:nvPr>
        </p:nvSpPr>
        <p:spPr>
          <a:xfrm>
            <a:off x="6683077" y="1026867"/>
            <a:ext cx="4790314" cy="1615356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  <a:defRPr b="1" sz="1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6" name="Google Shape;96;p48"/>
          <p:cNvSpPr txBox="1"/>
          <p:nvPr>
            <p:ph idx="2" type="body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7" name="Google Shape;97;p48"/>
          <p:cNvSpPr/>
          <p:nvPr>
            <p:ph idx="3" type="body"/>
          </p:nvPr>
        </p:nvSpPr>
        <p:spPr>
          <a:xfrm>
            <a:off x="6683077" y="2807582"/>
            <a:ext cx="4790314" cy="1615356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  <a:defRPr b="1" sz="1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48"/>
          <p:cNvSpPr txBox="1"/>
          <p:nvPr>
            <p:ph idx="4" type="body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48"/>
          <p:cNvSpPr/>
          <p:nvPr>
            <p:ph idx="5" type="body"/>
          </p:nvPr>
        </p:nvSpPr>
        <p:spPr>
          <a:xfrm>
            <a:off x="6683077" y="4584029"/>
            <a:ext cx="4790314" cy="1615356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  <a:defRPr b="1" sz="1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48"/>
          <p:cNvSpPr txBox="1"/>
          <p:nvPr>
            <p:ph idx="6" type="body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татистика">
  <p:cSld name="2_Статистика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9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49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49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05" name="Google Shape;105;p49"/>
          <p:cNvSpPr txBox="1"/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49"/>
          <p:cNvSpPr/>
          <p:nvPr>
            <p:ph idx="1" type="body"/>
          </p:nvPr>
        </p:nvSpPr>
        <p:spPr>
          <a:xfrm>
            <a:off x="6683077" y="1016000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 sz="18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7" name="Google Shape;107;p49"/>
          <p:cNvSpPr txBox="1"/>
          <p:nvPr>
            <p:ph idx="2" type="body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49"/>
          <p:cNvSpPr/>
          <p:nvPr>
            <p:ph idx="3" type="body"/>
          </p:nvPr>
        </p:nvSpPr>
        <p:spPr>
          <a:xfrm>
            <a:off x="6683077" y="2284561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AD28EF"/>
              </a:buClr>
              <a:buSzPts val="1800"/>
              <a:buChar char="•"/>
              <a:defRPr b="1" sz="1800">
                <a:solidFill>
                  <a:srgbClr val="AD28EF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49"/>
          <p:cNvSpPr txBox="1"/>
          <p:nvPr>
            <p:ph idx="4" type="body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49"/>
          <p:cNvSpPr/>
          <p:nvPr>
            <p:ph idx="5" type="body"/>
          </p:nvPr>
        </p:nvSpPr>
        <p:spPr>
          <a:xfrm>
            <a:off x="6683077" y="3553122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•"/>
              <a:defRPr b="1" sz="1800">
                <a:solidFill>
                  <a:schemeClr val="accent4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1" name="Google Shape;111;p49"/>
          <p:cNvSpPr txBox="1"/>
          <p:nvPr>
            <p:ph idx="6" type="body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2" name="Google Shape;112;p49"/>
          <p:cNvSpPr/>
          <p:nvPr>
            <p:ph idx="7" type="body"/>
          </p:nvPr>
        </p:nvSpPr>
        <p:spPr>
          <a:xfrm>
            <a:off x="6683077" y="4821684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  <a:defRPr b="1" sz="1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3" name="Google Shape;113;p49"/>
          <p:cNvSpPr txBox="1"/>
          <p:nvPr>
            <p:ph idx="8" type="body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татистика">
  <p:cSld name="1_Статистика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0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50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50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18" name="Google Shape;118;p50"/>
          <p:cNvSpPr txBox="1"/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50"/>
          <p:cNvSpPr/>
          <p:nvPr>
            <p:ph idx="1" type="body"/>
          </p:nvPr>
        </p:nvSpPr>
        <p:spPr>
          <a:xfrm>
            <a:off x="6683077" y="1016000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 sz="18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0" name="Google Shape;120;p50"/>
          <p:cNvSpPr txBox="1"/>
          <p:nvPr>
            <p:ph idx="2" type="body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1" name="Google Shape;121;p50"/>
          <p:cNvSpPr/>
          <p:nvPr>
            <p:ph idx="3" type="body"/>
          </p:nvPr>
        </p:nvSpPr>
        <p:spPr>
          <a:xfrm>
            <a:off x="6683077" y="2284561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AD28EF"/>
              </a:buClr>
              <a:buSzPts val="1800"/>
              <a:buChar char="•"/>
              <a:defRPr b="1" sz="1800">
                <a:solidFill>
                  <a:srgbClr val="AD28EF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2" name="Google Shape;122;p50"/>
          <p:cNvSpPr txBox="1"/>
          <p:nvPr>
            <p:ph idx="4" type="body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3" name="Google Shape;123;p50"/>
          <p:cNvSpPr/>
          <p:nvPr>
            <p:ph idx="5" type="body"/>
          </p:nvPr>
        </p:nvSpPr>
        <p:spPr>
          <a:xfrm>
            <a:off x="6683077" y="3553122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•"/>
              <a:defRPr b="1" sz="1800">
                <a:solidFill>
                  <a:schemeClr val="accent4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4" name="Google Shape;124;p50"/>
          <p:cNvSpPr txBox="1"/>
          <p:nvPr>
            <p:ph idx="6" type="body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5" name="Google Shape;125;p50"/>
          <p:cNvSpPr/>
          <p:nvPr>
            <p:ph idx="7" type="body"/>
          </p:nvPr>
        </p:nvSpPr>
        <p:spPr>
          <a:xfrm>
            <a:off x="6683077" y="4821684"/>
            <a:ext cx="4790314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  <a:defRPr b="1" sz="1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50"/>
          <p:cNvSpPr txBox="1"/>
          <p:nvPr>
            <p:ph idx="8" type="body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роблема и решение">
  <p:cSld name="Проблема и решение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1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51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51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31" name="Google Shape;131;p51"/>
          <p:cNvSpPr txBox="1"/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51"/>
          <p:cNvSpPr/>
          <p:nvPr>
            <p:ph idx="1" type="body"/>
          </p:nvPr>
        </p:nvSpPr>
        <p:spPr>
          <a:xfrm>
            <a:off x="517027" y="3810175"/>
            <a:ext cx="3264113" cy="2375115"/>
          </a:xfrm>
          <a:prstGeom prst="roundRect">
            <a:avLst>
              <a:gd fmla="val 101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49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sz="14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3" name="Google Shape;133;p51"/>
          <p:cNvSpPr/>
          <p:nvPr>
            <p:ph idx="2" type="body"/>
          </p:nvPr>
        </p:nvSpPr>
        <p:spPr>
          <a:xfrm>
            <a:off x="4464542" y="3810175"/>
            <a:ext cx="3264113" cy="2375115"/>
          </a:xfrm>
          <a:prstGeom prst="roundRect">
            <a:avLst>
              <a:gd fmla="val 101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49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sz="14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4" name="Google Shape;134;p51"/>
          <p:cNvSpPr/>
          <p:nvPr>
            <p:ph idx="3" type="body"/>
          </p:nvPr>
        </p:nvSpPr>
        <p:spPr>
          <a:xfrm>
            <a:off x="8385481" y="3810175"/>
            <a:ext cx="3264113" cy="2375115"/>
          </a:xfrm>
          <a:prstGeom prst="roundRect">
            <a:avLst>
              <a:gd fmla="val 101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49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sz="1400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5" name="Google Shape;135;p51"/>
          <p:cNvSpPr/>
          <p:nvPr>
            <p:ph idx="4" type="body"/>
          </p:nvPr>
        </p:nvSpPr>
        <p:spPr>
          <a:xfrm>
            <a:off x="517027" y="3252336"/>
            <a:ext cx="3264113" cy="391783"/>
          </a:xfrm>
          <a:prstGeom prst="roundRect">
            <a:avLst>
              <a:gd fmla="val 10167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51"/>
          <p:cNvSpPr/>
          <p:nvPr>
            <p:ph idx="5" type="body"/>
          </p:nvPr>
        </p:nvSpPr>
        <p:spPr>
          <a:xfrm>
            <a:off x="4464542" y="3252336"/>
            <a:ext cx="3264113" cy="391783"/>
          </a:xfrm>
          <a:prstGeom prst="roundRect">
            <a:avLst>
              <a:gd fmla="val 10167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7" name="Google Shape;137;p51"/>
          <p:cNvSpPr/>
          <p:nvPr>
            <p:ph idx="6" type="body"/>
          </p:nvPr>
        </p:nvSpPr>
        <p:spPr>
          <a:xfrm>
            <a:off x="8385481" y="3252336"/>
            <a:ext cx="3264113" cy="391783"/>
          </a:xfrm>
          <a:prstGeom prst="roundRect">
            <a:avLst>
              <a:gd fmla="val 10167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тадии">
  <p:cSld name="Стадии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2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52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52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42" name="Google Shape;142;p52"/>
          <p:cNvSpPr/>
          <p:nvPr>
            <p:ph idx="1" type="body"/>
          </p:nvPr>
        </p:nvSpPr>
        <p:spPr>
          <a:xfrm>
            <a:off x="346075" y="1024937"/>
            <a:ext cx="2526079" cy="1476687"/>
          </a:xfrm>
          <a:prstGeom prst="roundRect">
            <a:avLst>
              <a:gd fmla="val 1588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•"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3" name="Google Shape;143;p52"/>
          <p:cNvSpPr txBox="1"/>
          <p:nvPr>
            <p:ph idx="2" type="body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52"/>
          <p:cNvSpPr/>
          <p:nvPr>
            <p:ph idx="3" type="body"/>
          </p:nvPr>
        </p:nvSpPr>
        <p:spPr>
          <a:xfrm>
            <a:off x="4832960" y="1024937"/>
            <a:ext cx="2526079" cy="1476687"/>
          </a:xfrm>
          <a:prstGeom prst="roundRect">
            <a:avLst>
              <a:gd fmla="val 1588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•"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5" name="Google Shape;145;p52"/>
          <p:cNvSpPr txBox="1"/>
          <p:nvPr>
            <p:ph idx="4" type="body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52"/>
          <p:cNvSpPr/>
          <p:nvPr>
            <p:ph idx="5" type="body"/>
          </p:nvPr>
        </p:nvSpPr>
        <p:spPr>
          <a:xfrm>
            <a:off x="9330862" y="1024937"/>
            <a:ext cx="2526079" cy="1476687"/>
          </a:xfrm>
          <a:prstGeom prst="roundRect">
            <a:avLst>
              <a:gd fmla="val 1588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•"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7" name="Google Shape;147;p52"/>
          <p:cNvSpPr txBox="1"/>
          <p:nvPr>
            <p:ph idx="6" type="body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8" name="Google Shape;148;p52"/>
          <p:cNvSpPr/>
          <p:nvPr>
            <p:ph idx="7" type="body"/>
          </p:nvPr>
        </p:nvSpPr>
        <p:spPr>
          <a:xfrm>
            <a:off x="2593517" y="4358152"/>
            <a:ext cx="2526079" cy="1476687"/>
          </a:xfrm>
          <a:prstGeom prst="roundRect">
            <a:avLst>
              <a:gd fmla="val 1588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•"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9" name="Google Shape;149;p52"/>
          <p:cNvSpPr txBox="1"/>
          <p:nvPr>
            <p:ph idx="8" type="body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0" name="Google Shape;150;p52"/>
          <p:cNvSpPr/>
          <p:nvPr>
            <p:ph idx="9" type="body"/>
          </p:nvPr>
        </p:nvSpPr>
        <p:spPr>
          <a:xfrm>
            <a:off x="7080402" y="4358152"/>
            <a:ext cx="2526079" cy="1476687"/>
          </a:xfrm>
          <a:prstGeom prst="roundRect">
            <a:avLst>
              <a:gd fmla="val 1588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•"/>
              <a:defRPr b="1" sz="16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1" name="Google Shape;151;p52"/>
          <p:cNvSpPr txBox="1"/>
          <p:nvPr>
            <p:ph idx="13" type="body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2" name="Google Shape;152;p52"/>
          <p:cNvSpPr txBox="1"/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Демо_1">
  <p:cSld name="Демо_1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53"/>
          <p:cNvSpPr/>
          <p:nvPr>
            <p:ph idx="2" type="pic"/>
          </p:nvPr>
        </p:nvSpPr>
        <p:spPr>
          <a:xfrm>
            <a:off x="4162940" y="1264478"/>
            <a:ext cx="3866121" cy="2436377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53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53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7" name="Google Shape;157;p53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58" name="Google Shape;158;p53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53"/>
          <p:cNvSpPr txBox="1"/>
          <p:nvPr>
            <p:ph idx="1" type="body"/>
          </p:nvPr>
        </p:nvSpPr>
        <p:spPr>
          <a:xfrm>
            <a:off x="346075" y="4656083"/>
            <a:ext cx="3626835" cy="15446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0" name="Google Shape;160;p53"/>
          <p:cNvSpPr txBox="1"/>
          <p:nvPr>
            <p:ph idx="3" type="body"/>
          </p:nvPr>
        </p:nvSpPr>
        <p:spPr>
          <a:xfrm>
            <a:off x="4240502" y="4656083"/>
            <a:ext cx="3626835" cy="15446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1" name="Google Shape;161;p53"/>
          <p:cNvSpPr txBox="1"/>
          <p:nvPr>
            <p:ph idx="4" type="body"/>
          </p:nvPr>
        </p:nvSpPr>
        <p:spPr>
          <a:xfrm>
            <a:off x="8230203" y="4656083"/>
            <a:ext cx="3626835" cy="15446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Демо_1">
  <p:cSld name="1_Демо_1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54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54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5" name="Google Shape;165;p54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66" name="Google Shape;166;p54"/>
          <p:cNvSpPr txBox="1"/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54"/>
          <p:cNvSpPr txBox="1"/>
          <p:nvPr>
            <p:ph idx="1" type="body"/>
          </p:nvPr>
        </p:nvSpPr>
        <p:spPr>
          <a:xfrm>
            <a:off x="1210643" y="4324451"/>
            <a:ext cx="4121687" cy="16122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54"/>
          <p:cNvSpPr txBox="1"/>
          <p:nvPr>
            <p:ph idx="2" type="body"/>
          </p:nvPr>
        </p:nvSpPr>
        <p:spPr>
          <a:xfrm>
            <a:off x="6857950" y="4324451"/>
            <a:ext cx="4121687" cy="16122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9" name="Google Shape;169;p54"/>
          <p:cNvSpPr/>
          <p:nvPr>
            <p:ph idx="3" type="pic"/>
          </p:nvPr>
        </p:nvSpPr>
        <p:spPr>
          <a:xfrm>
            <a:off x="1210642" y="1577998"/>
            <a:ext cx="4121688" cy="2283975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54"/>
          <p:cNvSpPr/>
          <p:nvPr>
            <p:ph idx="4" type="pic"/>
          </p:nvPr>
        </p:nvSpPr>
        <p:spPr>
          <a:xfrm>
            <a:off x="6855540" y="1577998"/>
            <a:ext cx="4121688" cy="228397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Демо_1">
  <p:cSld name="2_Демо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55"/>
          <p:cNvSpPr/>
          <p:nvPr>
            <p:ph idx="2" type="pic"/>
          </p:nvPr>
        </p:nvSpPr>
        <p:spPr>
          <a:xfrm>
            <a:off x="5009872" y="1235915"/>
            <a:ext cx="2172255" cy="4602697"/>
          </a:xfrm>
          <a:prstGeom prst="roundRect">
            <a:avLst>
              <a:gd fmla="val 12528" name="adj"/>
            </a:avLst>
          </a:prstGeom>
          <a:noFill/>
          <a:ln>
            <a:noFill/>
          </a:ln>
        </p:spPr>
      </p:sp>
      <p:sp>
        <p:nvSpPr>
          <p:cNvPr id="173" name="Google Shape;173;p55"/>
          <p:cNvSpPr/>
          <p:nvPr>
            <p:ph idx="1" type="body"/>
          </p:nvPr>
        </p:nvSpPr>
        <p:spPr>
          <a:xfrm>
            <a:off x="356349" y="1641283"/>
            <a:ext cx="3812931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65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b="1" sz="1800">
                <a:solidFill>
                  <a:schemeClr val="accen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4" name="Google Shape;174;p55"/>
          <p:cNvSpPr txBox="1"/>
          <p:nvPr>
            <p:ph idx="3" type="body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5" name="Google Shape;175;p55"/>
          <p:cNvSpPr/>
          <p:nvPr>
            <p:ph idx="4" type="body"/>
          </p:nvPr>
        </p:nvSpPr>
        <p:spPr>
          <a:xfrm>
            <a:off x="8040021" y="1641283"/>
            <a:ext cx="3812931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65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E4B4FB"/>
              </a:buClr>
              <a:buSzPts val="1800"/>
              <a:buChar char="•"/>
              <a:defRPr b="1" sz="1800">
                <a:solidFill>
                  <a:srgbClr val="E4B4FB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6" name="Google Shape;176;p55"/>
          <p:cNvSpPr txBox="1"/>
          <p:nvPr>
            <p:ph idx="5" type="body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7" name="Google Shape;177;p55"/>
          <p:cNvSpPr/>
          <p:nvPr>
            <p:ph idx="6" type="body"/>
          </p:nvPr>
        </p:nvSpPr>
        <p:spPr>
          <a:xfrm>
            <a:off x="356349" y="3864598"/>
            <a:ext cx="3812931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65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•"/>
              <a:defRPr b="1" sz="1800">
                <a:solidFill>
                  <a:schemeClr val="accent4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8" name="Google Shape;178;p55"/>
          <p:cNvSpPr txBox="1"/>
          <p:nvPr>
            <p:ph idx="7" type="body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9" name="Google Shape;179;p55"/>
          <p:cNvSpPr/>
          <p:nvPr>
            <p:ph idx="8" type="body"/>
          </p:nvPr>
        </p:nvSpPr>
        <p:spPr>
          <a:xfrm>
            <a:off x="8040021" y="3864598"/>
            <a:ext cx="3812931" cy="1021701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1F5">
                  <a:alpha val="20000"/>
                </a:srgbClr>
              </a:gs>
              <a:gs pos="65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•"/>
              <a:defRPr b="1" sz="1800">
                <a:solidFill>
                  <a:schemeClr val="accent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55"/>
          <p:cNvSpPr txBox="1"/>
          <p:nvPr>
            <p:ph idx="9" type="body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Char char="•"/>
              <a:defRPr sz="1400"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181" name="Google Shape;181;p55"/>
          <p:cNvCxnSpPr/>
          <p:nvPr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cap="flat" cmpd="sng" w="254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2" name="Google Shape;182;p55"/>
          <p:cNvCxnSpPr/>
          <p:nvPr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cap="flat" cmpd="sng" w="254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3" name="Google Shape;183;p55"/>
          <p:cNvCxnSpPr/>
          <p:nvPr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cap="flat" cmpd="sng" w="25400">
            <a:solidFill>
              <a:srgbClr val="E4B4FB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4" name="Google Shape;184;p55"/>
          <p:cNvCxnSpPr/>
          <p:nvPr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cap="flat" cmpd="sng" w="254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5" name="Google Shape;185;p55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6" name="Google Shape;186;p55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7" name="Google Shape;187;p55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55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Демо_1">
  <p:cSld name="3_Демо_1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6"/>
          <p:cNvSpPr/>
          <p:nvPr>
            <p:ph idx="2" type="pic"/>
          </p:nvPr>
        </p:nvSpPr>
        <p:spPr>
          <a:xfrm>
            <a:off x="1001460" y="1038224"/>
            <a:ext cx="1726214" cy="3657600"/>
          </a:xfrm>
          <a:prstGeom prst="roundRect">
            <a:avLst>
              <a:gd fmla="val 12528" name="adj"/>
            </a:avLst>
          </a:prstGeom>
          <a:noFill/>
          <a:ln>
            <a:noFill/>
          </a:ln>
        </p:spPr>
      </p:sp>
      <p:sp>
        <p:nvSpPr>
          <p:cNvPr id="191" name="Google Shape;191;p56"/>
          <p:cNvSpPr/>
          <p:nvPr>
            <p:ph idx="3" type="pic"/>
          </p:nvPr>
        </p:nvSpPr>
        <p:spPr>
          <a:xfrm>
            <a:off x="3831097" y="1038224"/>
            <a:ext cx="1726214" cy="3657600"/>
          </a:xfrm>
          <a:prstGeom prst="roundRect">
            <a:avLst>
              <a:gd fmla="val 12528" name="adj"/>
            </a:avLst>
          </a:prstGeom>
          <a:noFill/>
          <a:ln>
            <a:noFill/>
          </a:ln>
        </p:spPr>
      </p:sp>
      <p:sp>
        <p:nvSpPr>
          <p:cNvPr id="192" name="Google Shape;192;p56"/>
          <p:cNvSpPr/>
          <p:nvPr>
            <p:ph idx="4" type="pic"/>
          </p:nvPr>
        </p:nvSpPr>
        <p:spPr>
          <a:xfrm>
            <a:off x="6660734" y="1038224"/>
            <a:ext cx="1726214" cy="3657600"/>
          </a:xfrm>
          <a:prstGeom prst="roundRect">
            <a:avLst>
              <a:gd fmla="val 12528" name="adj"/>
            </a:avLst>
          </a:prstGeom>
          <a:noFill/>
          <a:ln>
            <a:noFill/>
          </a:ln>
        </p:spPr>
      </p:sp>
      <p:sp>
        <p:nvSpPr>
          <p:cNvPr id="193" name="Google Shape;193;p56"/>
          <p:cNvSpPr/>
          <p:nvPr>
            <p:ph idx="5" type="pic"/>
          </p:nvPr>
        </p:nvSpPr>
        <p:spPr>
          <a:xfrm>
            <a:off x="9490368" y="1038224"/>
            <a:ext cx="1726214" cy="3657600"/>
          </a:xfrm>
          <a:prstGeom prst="roundRect">
            <a:avLst>
              <a:gd fmla="val 12528" name="adj"/>
            </a:avLst>
          </a:prstGeom>
          <a:noFill/>
          <a:ln>
            <a:noFill/>
          </a:ln>
        </p:spPr>
      </p:sp>
      <p:sp>
        <p:nvSpPr>
          <p:cNvPr id="194" name="Google Shape;194;p56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5" name="Google Shape;195;p56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6" name="Google Shape;196;p56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97" name="Google Shape;197;p56"/>
          <p:cNvSpPr txBox="1"/>
          <p:nvPr>
            <p:ph idx="1" type="body"/>
          </p:nvPr>
        </p:nvSpPr>
        <p:spPr>
          <a:xfrm>
            <a:off x="346076" y="4929435"/>
            <a:ext cx="2739248" cy="1271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8" name="Google Shape;198;p56"/>
          <p:cNvSpPr txBox="1"/>
          <p:nvPr>
            <p:ph idx="6" type="body"/>
          </p:nvPr>
        </p:nvSpPr>
        <p:spPr>
          <a:xfrm>
            <a:off x="3269562" y="4929435"/>
            <a:ext cx="2739248" cy="1271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56"/>
          <p:cNvSpPr txBox="1"/>
          <p:nvPr>
            <p:ph idx="7" type="body"/>
          </p:nvPr>
        </p:nvSpPr>
        <p:spPr>
          <a:xfrm>
            <a:off x="6193048" y="4929435"/>
            <a:ext cx="2739248" cy="1271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0" name="Google Shape;200;p56"/>
          <p:cNvSpPr txBox="1"/>
          <p:nvPr>
            <p:ph idx="8" type="body"/>
          </p:nvPr>
        </p:nvSpPr>
        <p:spPr>
          <a:xfrm>
            <a:off x="9116535" y="4929435"/>
            <a:ext cx="2739248" cy="12713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1" name="Google Shape;201;p56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Два объекта">
  <p:cSld name="Два объекта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7"/>
          <p:cNvSpPr txBox="1"/>
          <p:nvPr>
            <p:ph idx="1" type="body"/>
          </p:nvPr>
        </p:nvSpPr>
        <p:spPr>
          <a:xfrm>
            <a:off x="315387" y="1016001"/>
            <a:ext cx="5704418" cy="5184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4" name="Google Shape;204;p57"/>
          <p:cNvSpPr txBox="1"/>
          <p:nvPr>
            <p:ph idx="2" type="body"/>
          </p:nvPr>
        </p:nvSpPr>
        <p:spPr>
          <a:xfrm>
            <a:off x="6172206" y="1016001"/>
            <a:ext cx="5670473" cy="51847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5" name="Google Shape;205;p57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6" name="Google Shape;206;p57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57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08" name="Google Shape;208;p57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равнение">
  <p:cSld name="Сравнение"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58"/>
          <p:cNvSpPr txBox="1"/>
          <p:nvPr>
            <p:ph idx="1" type="body"/>
          </p:nvPr>
        </p:nvSpPr>
        <p:spPr>
          <a:xfrm>
            <a:off x="315386" y="1015427"/>
            <a:ext cx="5682193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None/>
              <a:defRPr b="1" sz="1400"/>
            </a:lvl1pPr>
            <a:lvl2pPr indent="-2286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266"/>
              <a:buNone/>
              <a:defRPr b="1" sz="1266"/>
            </a:lvl2pPr>
            <a:lvl3pPr indent="-2286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141"/>
              <a:buNone/>
              <a:defRPr b="1" sz="1141"/>
            </a:lvl3pPr>
            <a:lvl4pPr indent="-2286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013"/>
              <a:buNone/>
              <a:defRPr b="1" sz="1013"/>
            </a:lvl4pPr>
            <a:lvl5pPr indent="-2286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013"/>
              <a:buNone/>
              <a:defRPr b="1" sz="1013"/>
            </a:lvl5pPr>
            <a:lvl6pPr indent="-2286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6pPr>
            <a:lvl7pPr indent="-2286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7pPr>
            <a:lvl8pPr indent="-2286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8pPr>
            <a:lvl9pPr indent="-2286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9pPr>
          </a:lstStyle>
          <a:p/>
        </p:txBody>
      </p:sp>
      <p:sp>
        <p:nvSpPr>
          <p:cNvPr id="211" name="Google Shape;211;p58"/>
          <p:cNvSpPr txBox="1"/>
          <p:nvPr>
            <p:ph idx="2" type="body"/>
          </p:nvPr>
        </p:nvSpPr>
        <p:spPr>
          <a:xfrm>
            <a:off x="349334" y="1598615"/>
            <a:ext cx="5648250" cy="4602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2" name="Google Shape;212;p58"/>
          <p:cNvSpPr txBox="1"/>
          <p:nvPr>
            <p:ph idx="3" type="body"/>
          </p:nvPr>
        </p:nvSpPr>
        <p:spPr>
          <a:xfrm>
            <a:off x="6172205" y="1015427"/>
            <a:ext cx="5684841" cy="3651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None/>
              <a:defRPr b="1" sz="1400"/>
            </a:lvl1pPr>
            <a:lvl2pPr indent="-2286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266"/>
              <a:buNone/>
              <a:defRPr b="1" sz="1266"/>
            </a:lvl2pPr>
            <a:lvl3pPr indent="-2286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141"/>
              <a:buNone/>
              <a:defRPr b="1" sz="1141"/>
            </a:lvl3pPr>
            <a:lvl4pPr indent="-2286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013"/>
              <a:buNone/>
              <a:defRPr b="1" sz="1013"/>
            </a:lvl4pPr>
            <a:lvl5pPr indent="-2286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013"/>
              <a:buNone/>
              <a:defRPr b="1" sz="1013"/>
            </a:lvl5pPr>
            <a:lvl6pPr indent="-2286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6pPr>
            <a:lvl7pPr indent="-2286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7pPr>
            <a:lvl8pPr indent="-2286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8pPr>
            <a:lvl9pPr indent="-2286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013"/>
              <a:buNone/>
              <a:defRPr b="1" sz="1013"/>
            </a:lvl9pPr>
          </a:lstStyle>
          <a:p/>
        </p:txBody>
      </p:sp>
      <p:sp>
        <p:nvSpPr>
          <p:cNvPr id="213" name="Google Shape;213;p58"/>
          <p:cNvSpPr txBox="1"/>
          <p:nvPr>
            <p:ph idx="4" type="body"/>
          </p:nvPr>
        </p:nvSpPr>
        <p:spPr>
          <a:xfrm>
            <a:off x="6172202" y="1598615"/>
            <a:ext cx="5670473" cy="4602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4" name="Google Shape;214;p58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5" name="Google Shape;215;p58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p58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17" name="Google Shape;217;p58"/>
          <p:cNvSpPr txBox="1"/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 слайд" type="blank">
  <p:cSld name="BLANK"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59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0" name="Google Shape;220;p59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1" name="Google Shape;221;p59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бъект с подписью" type="objTx">
  <p:cSld name="OBJECT_WITH_CAPTION_TEXT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60"/>
          <p:cNvSpPr txBox="1"/>
          <p:nvPr>
            <p:ph type="title"/>
          </p:nvPr>
        </p:nvSpPr>
        <p:spPr>
          <a:xfrm>
            <a:off x="334966" y="1015999"/>
            <a:ext cx="4437062" cy="121341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400"/>
              <a:buFont typeface="Montserrat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4" name="Google Shape;224;p60"/>
          <p:cNvSpPr txBox="1"/>
          <p:nvPr>
            <p:ph idx="1" type="body"/>
          </p:nvPr>
        </p:nvSpPr>
        <p:spPr>
          <a:xfrm>
            <a:off x="5183194" y="1015999"/>
            <a:ext cx="6673847" cy="50495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1186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773"/>
              <a:buChar char="•"/>
              <a:defRPr sz="1773"/>
            </a:lvl1pPr>
            <a:lvl2pPr indent="-32512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520"/>
              <a:buChar char="•"/>
              <a:defRPr sz="1520"/>
            </a:lvl2pPr>
            <a:lvl3pPr indent="-308991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266"/>
              <a:buChar char="•"/>
              <a:defRPr sz="1266"/>
            </a:lvl3pPr>
            <a:lvl4pPr indent="-301054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141"/>
              <a:buChar char="•"/>
              <a:defRPr sz="1141"/>
            </a:lvl4pPr>
            <a:lvl5pPr indent="-301054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141"/>
              <a:buChar char="•"/>
              <a:defRPr sz="1141"/>
            </a:lvl5pPr>
            <a:lvl6pPr indent="-308991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266"/>
              <a:buChar char="•"/>
              <a:defRPr sz="1266"/>
            </a:lvl6pPr>
            <a:lvl7pPr indent="-308991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266"/>
              <a:buChar char="•"/>
              <a:defRPr sz="1266"/>
            </a:lvl7pPr>
            <a:lvl8pPr indent="-308991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266"/>
              <a:buChar char="•"/>
              <a:defRPr sz="1266"/>
            </a:lvl8pPr>
            <a:lvl9pPr indent="-308991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266"/>
              <a:buChar char="•"/>
              <a:defRPr sz="1266"/>
            </a:lvl9pPr>
          </a:lstStyle>
          <a:p/>
        </p:txBody>
      </p:sp>
      <p:sp>
        <p:nvSpPr>
          <p:cNvPr id="225" name="Google Shape;225;p60"/>
          <p:cNvSpPr txBox="1"/>
          <p:nvPr>
            <p:ph idx="2" type="body"/>
          </p:nvPr>
        </p:nvSpPr>
        <p:spPr>
          <a:xfrm>
            <a:off x="334966" y="2428239"/>
            <a:ext cx="4437062" cy="363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886"/>
              <a:buNone/>
              <a:defRPr sz="886"/>
            </a:lvl2pPr>
            <a:lvl3pPr indent="-228600" lvl="2" marL="1371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760"/>
              <a:buNone/>
              <a:defRPr sz="760"/>
            </a:lvl3pPr>
            <a:lvl4pPr indent="-228600" lvl="3" marL="1828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631"/>
              <a:buNone/>
              <a:defRPr sz="631"/>
            </a:lvl4pPr>
            <a:lvl5pPr indent="-228600" lvl="4" marL="22860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631"/>
              <a:buNone/>
              <a:defRPr sz="631"/>
            </a:lvl5pPr>
            <a:lvl6pPr indent="-228600" lvl="5" marL="27432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631"/>
              <a:buNone/>
              <a:defRPr sz="631"/>
            </a:lvl6pPr>
            <a:lvl7pPr indent="-228600" lvl="6" marL="32004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631"/>
              <a:buNone/>
              <a:defRPr sz="631"/>
            </a:lvl7pPr>
            <a:lvl8pPr indent="-228600" lvl="7" marL="36576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631"/>
              <a:buNone/>
              <a:defRPr sz="631"/>
            </a:lvl8pPr>
            <a:lvl9pPr indent="-228600" lvl="8" marL="411480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631"/>
              <a:buNone/>
              <a:defRPr sz="631"/>
            </a:lvl9pPr>
          </a:lstStyle>
          <a:p/>
        </p:txBody>
      </p:sp>
      <p:sp>
        <p:nvSpPr>
          <p:cNvPr id="226" name="Google Shape;226;p60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7" name="Google Shape;227;p60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760">
                <a:solidFill>
                  <a:srgbClr val="F2F2F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8" name="Google Shape;228;p60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algn="ctr">
              <a:spcBef>
                <a:spcPts val="0"/>
              </a:spcBef>
              <a:buNone/>
              <a:defRPr sz="1200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устой">
  <p:cSld name="Пустой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8"/>
          <p:cNvSpPr txBox="1"/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  <a:defRPr b="1" i="0" sz="1997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8"/>
          <p:cNvSpPr txBox="1"/>
          <p:nvPr>
            <p:ph idx="1" type="body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802" lvl="0" marL="457200" marR="0" rtl="0" algn="l">
              <a:lnSpc>
                <a:spcPct val="90000"/>
              </a:lnSpc>
              <a:spcBef>
                <a:spcPts val="631"/>
              </a:spcBef>
              <a:spcAft>
                <a:spcPts val="0"/>
              </a:spcAft>
              <a:buClr>
                <a:srgbClr val="F2F2F2"/>
              </a:buClr>
              <a:buSzPts val="1452"/>
              <a:buFont typeface="Arial"/>
              <a:buChar char="•"/>
              <a:defRPr b="0" i="0" sz="1452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09309" lvl="1" marL="9144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1271"/>
              <a:buFont typeface="Arial"/>
              <a:buChar char="•"/>
              <a:defRPr b="0" i="0" sz="1271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1910" lvl="2" marL="13716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997"/>
              <a:buFont typeface="Arial"/>
              <a:buChar char="•"/>
              <a:defRPr b="0" i="0" sz="997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86195" lvl="3" marL="18288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907"/>
              <a:buFont typeface="Arial"/>
              <a:buChar char="•"/>
              <a:defRPr b="0" i="0" sz="907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86195" lvl="4" marL="22860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rgbClr val="F2F2F2"/>
              </a:buClr>
              <a:buSzPts val="907"/>
              <a:buFont typeface="Arial"/>
              <a:buChar char="•"/>
              <a:defRPr b="0" i="0" sz="907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01054" lvl="5" marL="27432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141"/>
              <a:buFont typeface="Arial"/>
              <a:buChar char="•"/>
              <a:defRPr b="0" i="0" sz="1141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01054" lvl="6" marL="32004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141"/>
              <a:buFont typeface="Arial"/>
              <a:buChar char="•"/>
              <a:defRPr b="0" i="0" sz="1141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01053" lvl="7" marL="36576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141"/>
              <a:buFont typeface="Arial"/>
              <a:buChar char="•"/>
              <a:defRPr b="0" i="0" sz="1141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01053" lvl="8" marL="4114800" marR="0" rtl="0" algn="l">
              <a:lnSpc>
                <a:spcPct val="90000"/>
              </a:lnSpc>
              <a:spcBef>
                <a:spcPts val="317"/>
              </a:spcBef>
              <a:spcAft>
                <a:spcPts val="0"/>
              </a:spcAft>
              <a:buClr>
                <a:schemeClr val="dk1"/>
              </a:buClr>
              <a:buSzPts val="1141"/>
              <a:buFont typeface="Arial"/>
              <a:buChar char="•"/>
              <a:defRPr b="0" i="0" sz="1141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" name="Google Shape;12;p38"/>
          <p:cNvSpPr txBox="1"/>
          <p:nvPr>
            <p:ph idx="10" type="dt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6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3" name="Google Shape;13;p38"/>
          <p:cNvSpPr txBox="1"/>
          <p:nvPr>
            <p:ph idx="11" type="ftr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76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4" name="Google Shape;14;p38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rt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rt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rt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rt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rt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rt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rt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rtl="0" algn="ctr">
              <a:spcBef>
                <a:spcPts val="0"/>
              </a:spcBef>
              <a:buNone/>
              <a:defRPr b="0" i="0" sz="1200" u="none" cap="none" strike="noStrike">
                <a:solidFill>
                  <a:srgbClr val="F2F2F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4156">
          <p15:clr>
            <a:srgbClr val="F26B43"/>
          </p15:clr>
        </p15:guide>
        <p15:guide id="2" orient="horz" pos="482">
          <p15:clr>
            <a:srgbClr val="F26B43"/>
          </p15:clr>
        </p15:guide>
        <p15:guide id="3" pos="218">
          <p15:clr>
            <a:srgbClr val="F26B43"/>
          </p15:clr>
        </p15:guide>
        <p15:guide id="4" pos="7469">
          <p15:clr>
            <a:srgbClr val="F26B43"/>
          </p15:clr>
        </p15:guide>
        <p15:guide id="5" orient="horz" pos="249">
          <p15:clr>
            <a:srgbClr val="F26B43"/>
          </p15:clr>
        </p15:guide>
        <p15:guide id="6" orient="horz" pos="4042">
          <p15:clr>
            <a:srgbClr val="F26B43"/>
          </p15:clr>
        </p15:guide>
        <p15:guide id="7" orient="horz" pos="3906">
          <p15:clr>
            <a:srgbClr val="F26B43"/>
          </p15:clr>
        </p15:guide>
        <p15:guide id="8" orient="horz" pos="640">
          <p15:clr>
            <a:srgbClr val="F26B43"/>
          </p15:clr>
        </p15:guide>
        <p15:guide id="9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.pn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8.jpg"/><Relationship Id="rId10" Type="http://schemas.openxmlformats.org/officeDocument/2006/relationships/image" Target="../media/image1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3" Type="http://schemas.openxmlformats.org/officeDocument/2006/relationships/image" Target="../media/image1.png"/><Relationship Id="rId4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7"/>
          <p:cNvSpPr txBox="1"/>
          <p:nvPr>
            <p:ph type="ctrTitle"/>
          </p:nvPr>
        </p:nvSpPr>
        <p:spPr>
          <a:xfrm>
            <a:off x="411480" y="2834640"/>
            <a:ext cx="694944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buClr>
                <a:srgbClr val="F2F2F2"/>
              </a:buClr>
              <a:buSzPts val="4800"/>
              <a:buFont typeface="Montserrat"/>
              <a:buNone/>
            </a:pPr>
            <a:r>
              <a:rPr sz="5400" b="1" i="0">
                <a:solidFill>
                  <a:srgbClr val="FFFFFF"/>
                </a:solidFill>
                <a:latin typeface="Montserrat"/>
              </a:rPr>
              <a:t>ОКО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Montserrat"/>
              </a:rPr>
              <a:t>поиск нарушений на стройплощадках по снимкам камер</a:t>
            </a:r>
          </a:p>
        </p:txBody>
      </p:sp>
      <p:sp>
        <p:nvSpPr>
          <p:cNvPr id="352" name="Google Shape;352;p7"/>
          <p:cNvSpPr txBox="1"/>
          <p:nvPr>
            <p:ph idx="1" type="body"/>
          </p:nvPr>
        </p:nvSpPr>
        <p:spPr>
          <a:xfrm>
            <a:off x="411480" y="5349240"/>
            <a:ext cx="7498079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800"/>
              <a:buNone/>
            </a:pPr>
            <a:r>
              <a:rPr sz="1300" b="0" i="0">
                <a:solidFill>
                  <a:srgbClr val="FFD6E4"/>
                </a:solidFill>
                <a:latin typeface="Montserrat"/>
              </a:rPr>
              <a:t>Автоматизированный сервис поиска нарушений на строительных площадках Москвы · задача Департамента градостроительной политики города Москвы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Montserrat"/>
              </a:rPr>
              <a:t>Команда: ОКО · Лидеры цифровой трансформации 2026</a:t>
            </a:r>
          </a:p>
        </p:txBody>
      </p:sp>
      <p:sp>
        <p:nvSpPr>
          <p:cNvPr id="353" name="Google Shape;353;p7"/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fmla="val 9821" name="adj"/>
            </a:avLst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54" name="Picture 353" descr="logo_ok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75488"/>
            <a:ext cx="777240" cy="777240"/>
          </a:xfrm>
          <a:prstGeom prst="rect">
            <a:avLst/>
          </a:prstGeom>
        </p:spPr>
      </p:pic>
      <p:sp>
        <p:nvSpPr>
          <p:cNvPr id="355" name="TextBox 354"/>
          <p:cNvSpPr txBox="1"/>
          <p:nvPr/>
        </p:nvSpPr>
        <p:spPr>
          <a:xfrm>
            <a:off x="1463040" y="502920"/>
            <a:ext cx="146304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no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2600" b="1" i="0">
                <a:solidFill>
                  <a:srgbClr val="FFFFFF"/>
                </a:solidFill>
                <a:latin typeface="Montserrat"/>
              </a:rPr>
              <a:t>ОКО</a:t>
            </a:r>
          </a:p>
        </p:txBody>
      </p:sp>
      <p:pic>
        <p:nvPicPr>
          <p:cNvPr id="356" name="Picture 355" descr="logo_g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621792"/>
            <a:ext cx="233635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"/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60" name="Google Shape;360;p8"/>
          <p:cNvSpPr txBox="1"/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lang="ru-RU" sz="1600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Краткое описание решения:</a:t>
            </a:r>
            <a:endParaRPr/>
          </a:p>
        </p:txBody>
      </p:sp>
      <p:sp>
        <p:nvSpPr>
          <p:cNvPr id="361" name="Google Shape;361;p8"/>
          <p:cNvSpPr txBox="1"/>
          <p:nvPr/>
        </p:nvSpPr>
        <p:spPr>
          <a:xfrm>
            <a:off x="6836606" y="4876070"/>
            <a:ext cx="4945565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Методика «этап → техника» на все 377 видов работ справочника организаторов: не только «есть ли техника», но и «та ли, в паре ли, в нужном ли количестве». Каждый вывод объясним и воспроизводим.</a:t>
            </a:r>
          </a:p>
        </p:txBody>
      </p:sp>
      <p:sp>
        <p:nvSpPr>
          <p:cNvPr id="362" name="Google Shape;362;p8"/>
          <p:cNvSpPr txBox="1"/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</a:pPr>
            <a:r>
              <a:rPr b="1" lang="ru-RU"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Капитан: </a:t>
            </a:r>
            <a:r>
              <a:rPr lang="ru-RU"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ФИО, специальность</a:t>
            </a:r>
            <a:endParaRPr/>
          </a:p>
          <a:p>
            <a:pPr indent="-144688" lvl="0" marL="144688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</a:pPr>
            <a:r>
              <a:rPr b="1" lang="ru-RU"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Кол-во участников: </a:t>
            </a:r>
            <a:r>
              <a:rPr lang="ru-RU"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__ человек</a:t>
            </a:r>
            <a:endParaRPr/>
          </a:p>
          <a:p>
            <a:pPr indent="-144688" lvl="0" marL="144688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</a:pPr>
            <a:r>
              <a:rPr b="1" lang="ru-RU"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Краткое описание: </a:t>
            </a:r>
            <a:endParaRPr/>
          </a:p>
          <a:p>
            <a:pPr indent="-144688" lvl="0" marL="144688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📫"/>
            </a:pPr>
            <a:r>
              <a:rPr i="1" lang="ru-RU"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как образовалась команда? </a:t>
            </a:r>
            <a:endParaRPr/>
          </a:p>
          <a:p>
            <a:pPr indent="-144688" lvl="0" marL="144688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📫"/>
            </a:pPr>
            <a:r>
              <a:rPr i="1" lang="ru-RU"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место работы/учебы участников?</a:t>
            </a:r>
            <a:endParaRPr/>
          </a:p>
          <a:p>
            <a:pPr indent="-144688" lvl="0" marL="144688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</a:pPr>
            <a:r>
              <a:rPr b="1" lang="ru-RU"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Город и регион:</a:t>
            </a:r>
            <a:endParaRPr/>
          </a:p>
        </p:txBody>
      </p:sp>
      <p:sp>
        <p:nvSpPr>
          <p:cNvPr id="363" name="Google Shape;363;p8"/>
          <p:cNvSpPr txBox="1"/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lang="ru-RU" sz="1600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О команде</a:t>
            </a:r>
            <a:endParaRPr/>
          </a:p>
        </p:txBody>
      </p:sp>
      <p:sp>
        <p:nvSpPr>
          <p:cNvPr id="364" name="Google Shape;364;p8"/>
          <p:cNvSpPr txBox="1"/>
          <p:nvPr>
            <p:ph type="title"/>
          </p:nvPr>
        </p:nvSpPr>
        <p:spPr>
          <a:xfrm>
            <a:off x="6819903" y="1039236"/>
            <a:ext cx="3636703" cy="101512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2400"/>
              <a:buFont typeface="Montserrat"/>
              <a:buNone/>
            </a:pPr>
            <a:r>
              <a:rPr sz="4000" b="1" i="0">
                <a:solidFill>
                  <a:srgbClr val="520978"/>
                </a:solidFill>
                <a:latin typeface="Montserrat"/>
              </a:rPr>
              <a:t>ОКО</a:t>
            </a:r>
          </a:p>
        </p:txBody>
      </p:sp>
      <p:cxnSp>
        <p:nvCxnSpPr>
          <p:cNvPr id="365" name="Google Shape;365;p8"/>
          <p:cNvCxnSpPr/>
          <p:nvPr/>
        </p:nvCxnSpPr>
        <p:spPr>
          <a:xfrm>
            <a:off x="6880774" y="2240031"/>
            <a:ext cx="4884824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66" name="Google Shape;366;p8"/>
          <p:cNvCxnSpPr/>
          <p:nvPr/>
        </p:nvCxnSpPr>
        <p:spPr>
          <a:xfrm>
            <a:off x="6897347" y="4437879"/>
            <a:ext cx="4884824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67" name="Google Shape;367;p8"/>
          <p:cNvCxnSpPr/>
          <p:nvPr/>
        </p:nvCxnSpPr>
        <p:spPr>
          <a:xfrm>
            <a:off x="395833" y="3448639"/>
            <a:ext cx="5700167" cy="0"/>
          </a:xfrm>
          <a:prstGeom prst="straightConnector1">
            <a:avLst/>
          </a:prstGeom>
          <a:noFill/>
          <a:ln cap="flat" cmpd="sng" w="952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8" name="Google Shape;368;p8"/>
          <p:cNvSpPr txBox="1"/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lang="ru-RU" sz="1600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Уникальность решения:</a:t>
            </a:r>
            <a:endParaRPr/>
          </a:p>
        </p:txBody>
      </p:sp>
      <p:sp>
        <p:nvSpPr>
          <p:cNvPr id="369" name="Google Shape;369;p8"/>
          <p:cNvSpPr txBox="1"/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Снимки с камер → техника на снимке → зона и этап календарного графика → предупреждение с зоной, этапом и снимками-доказательствами → вердикт инженера → нарушение в реестре.</a:t>
            </a:r>
          </a:p>
        </p:txBody>
      </p:sp>
      <p:sp>
        <p:nvSpPr>
          <p:cNvPr id="370" name="Google Shape;370;p8"/>
          <p:cNvSpPr txBox="1"/>
          <p:nvPr/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sz="1200">
              <a:solidFill>
                <a:schemeClr val="accent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71" name="Picture 370" descr="summary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8328"/>
            <a:ext cx="6455664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9"/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7" name="Google Shape;377;p9"/>
          <p:cNvSpPr txBox="1"/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Роль в команде</a:t>
            </a:r>
            <a:endParaRPr/>
          </a:p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Ник в мессенджере</a:t>
            </a:r>
            <a:endParaRPr/>
          </a:p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Номер телефона</a:t>
            </a:r>
            <a:endParaRPr/>
          </a:p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Место работы/учебы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8" name="Google Shape;378;p9"/>
          <p:cNvSpPr txBox="1"/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lang="ru-RU" sz="1600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Имя Фамилия</a:t>
            </a:r>
            <a:endParaRPr/>
          </a:p>
        </p:txBody>
      </p:sp>
      <p:sp>
        <p:nvSpPr>
          <p:cNvPr id="379" name="Google Shape;379;p9"/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0" name="Google Shape;380;p9"/>
          <p:cNvSpPr txBox="1"/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Роль в команде</a:t>
            </a:r>
            <a:endParaRPr/>
          </a:p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Ник в мессенджере</a:t>
            </a:r>
            <a:endParaRPr/>
          </a:p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Номер телефона</a:t>
            </a:r>
            <a:endParaRPr/>
          </a:p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Место работы/учебы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1" name="Google Shape;381;p9"/>
          <p:cNvSpPr txBox="1"/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lang="ru-RU" sz="1600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Имя Фамилия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3" name="Google Shape;383;p9"/>
          <p:cNvSpPr txBox="1"/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Роль в команде</a:t>
            </a:r>
            <a:endParaRPr/>
          </a:p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Ник в мессенджере</a:t>
            </a:r>
            <a:endParaRPr/>
          </a:p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Номер телефона</a:t>
            </a:r>
            <a:endParaRPr/>
          </a:p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Место работы/учебы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4" name="Google Shape;384;p9"/>
          <p:cNvSpPr txBox="1"/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lang="ru-RU" sz="1600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Имя Фамилия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6" name="Google Shape;386;p9"/>
          <p:cNvSpPr txBox="1"/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Роль в команде</a:t>
            </a:r>
            <a:endParaRPr/>
          </a:p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Ник в мессенджере</a:t>
            </a:r>
            <a:endParaRPr/>
          </a:p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Номер телефона</a:t>
            </a:r>
            <a:endParaRPr/>
          </a:p>
          <a:p>
            <a:pPr indent="-144688" lvl="0" marL="144688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Место работы/учебы</a:t>
            </a:r>
            <a:endParaRPr sz="1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7" name="Google Shape;387;p9"/>
          <p:cNvSpPr txBox="1"/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lang="ru-RU" sz="1600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Имя Фамилия</a:t>
            </a:r>
            <a:endParaRPr/>
          </a:p>
        </p:txBody>
      </p:sp>
      <p:sp>
        <p:nvSpPr>
          <p:cNvPr id="388" name="Google Shape;388;p9"/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9" name="Google Shape;389;p9"/>
          <p:cNvSpPr/>
          <p:nvPr/>
        </p:nvSpPr>
        <p:spPr>
          <a:xfrm>
            <a:off x="346075" y="324562"/>
            <a:ext cx="2061972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0" name="Google Shape;390;p9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391" name="Google Shape;391;p9"/>
          <p:cNvSpPr/>
          <p:nvPr>
            <p:ph idx="2" type="pic"/>
          </p:nvPr>
        </p:nvSpPr>
        <p:spPr>
          <a:xfrm>
            <a:off x="581397" y="1816054"/>
            <a:ext cx="1722566" cy="1552901"/>
          </a:xfrm>
          <a:prstGeom prst="rect">
            <a:avLst/>
          </a:prstGeom>
          <a:noFill/>
          <a:ln>
            <a:noFill/>
          </a:ln>
        </p:spPr>
      </p:sp>
      <p:sp>
        <p:nvSpPr>
          <p:cNvPr id="392" name="Google Shape;392;p9"/>
          <p:cNvSpPr/>
          <p:nvPr>
            <p:ph idx="3" type="pic"/>
          </p:nvPr>
        </p:nvSpPr>
        <p:spPr>
          <a:xfrm>
            <a:off x="2886467" y="1826554"/>
            <a:ext cx="1722566" cy="1542401"/>
          </a:xfrm>
          <a:prstGeom prst="rect">
            <a:avLst/>
          </a:prstGeom>
          <a:noFill/>
          <a:ln>
            <a:noFill/>
          </a:ln>
        </p:spPr>
      </p:sp>
      <p:sp>
        <p:nvSpPr>
          <p:cNvPr id="393" name="Google Shape;393;p9"/>
          <p:cNvSpPr/>
          <p:nvPr>
            <p:ph idx="4" type="pic"/>
          </p:nvPr>
        </p:nvSpPr>
        <p:spPr>
          <a:xfrm>
            <a:off x="5191784" y="1809238"/>
            <a:ext cx="1722567" cy="1559717"/>
          </a:xfrm>
          <a:prstGeom prst="rect">
            <a:avLst/>
          </a:prstGeom>
          <a:noFill/>
          <a:ln>
            <a:noFill/>
          </a:ln>
        </p:spPr>
      </p:sp>
      <p:sp>
        <p:nvSpPr>
          <p:cNvPr id="394" name="Google Shape;394;p9"/>
          <p:cNvSpPr/>
          <p:nvPr>
            <p:ph idx="5" type="pic"/>
          </p:nvPr>
        </p:nvSpPr>
        <p:spPr>
          <a:xfrm>
            <a:off x="7520208" y="1809238"/>
            <a:ext cx="1722567" cy="1559717"/>
          </a:xfrm>
          <a:prstGeom prst="rect">
            <a:avLst/>
          </a:prstGeom>
          <a:noFill/>
          <a:ln>
            <a:noFill/>
          </a:ln>
        </p:spPr>
      </p:sp>
      <p:sp>
        <p:nvSpPr>
          <p:cNvPr id="395" name="Google Shape;395;p9"/>
          <p:cNvSpPr/>
          <p:nvPr>
            <p:ph idx="6" type="pic"/>
          </p:nvPr>
        </p:nvSpPr>
        <p:spPr>
          <a:xfrm>
            <a:off x="9802422" y="1809238"/>
            <a:ext cx="1722566" cy="1559717"/>
          </a:xfrm>
          <a:prstGeom prst="rect">
            <a:avLst/>
          </a:prstGeom>
          <a:noFill/>
          <a:ln>
            <a:noFill/>
          </a:ln>
        </p:spPr>
      </p:sp>
      <p:sp>
        <p:nvSpPr>
          <p:cNvPr id="396" name="Google Shape;396;p9"/>
          <p:cNvSpPr txBox="1"/>
          <p:nvPr>
            <p:ph type="title"/>
          </p:nvPr>
        </p:nvSpPr>
        <p:spPr>
          <a:xfrm>
            <a:off x="518359" y="449787"/>
            <a:ext cx="2061972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non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</a:pPr>
            <a:r>
              <a:rPr sz="2000" b="1">
                <a:latin typeface="Montserrat"/>
              </a:rPr>
              <a:t>КОМАНДА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7" name="Google Shape;397;p9"/>
          <p:cNvSpPr txBox="1"/>
          <p:nvPr>
            <p:ph idx="1" type="body"/>
          </p:nvPr>
        </p:nvSpPr>
        <p:spPr>
          <a:xfrm>
            <a:off x="518360" y="4250028"/>
            <a:ext cx="1894354" cy="16246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</a:rPr>
              <a:t>Роль в команде</a:t>
            </a:r>
            <a:endParaRPr/>
          </a:p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</a:rPr>
              <a:t>Ник в мессенджере</a:t>
            </a:r>
            <a:endParaRPr/>
          </a:p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</a:rPr>
              <a:t>Номер телефона</a:t>
            </a:r>
            <a:endParaRPr/>
          </a:p>
          <a:p>
            <a:pPr indent="-144688" lvl="0" marL="14468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•"/>
            </a:pPr>
            <a:r>
              <a:rPr lang="ru-RU" sz="1200">
                <a:solidFill>
                  <a:schemeClr val="dk1"/>
                </a:solidFill>
              </a:rPr>
              <a:t>Место работы/учебы</a:t>
            </a:r>
            <a:endParaRPr/>
          </a:p>
        </p:txBody>
      </p:sp>
      <p:sp>
        <p:nvSpPr>
          <p:cNvPr id="398" name="Google Shape;398;p9"/>
          <p:cNvSpPr txBox="1"/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None/>
            </a:pPr>
            <a:r>
              <a:rPr b="1" lang="ru-RU" sz="1600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Имя Фамилия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10"/>
          <p:cNvSpPr/>
          <p:nvPr/>
        </p:nvSpPr>
        <p:spPr>
          <a:xfrm>
            <a:off x="346075" y="324562"/>
            <a:ext cx="4421124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5" name="Google Shape;405;p10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406" name="Google Shape;406;p10"/>
          <p:cNvSpPr txBox="1"/>
          <p:nvPr>
            <p:ph type="title"/>
          </p:nvPr>
        </p:nvSpPr>
        <p:spPr>
          <a:xfrm>
            <a:off x="507849" y="449787"/>
            <a:ext cx="442112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non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</a:pPr>
            <a:r>
              <a:rPr sz="2000" b="1">
                <a:latin typeface="Montserrat"/>
              </a:rPr>
              <a:t>СЛОЖНОСТИ И РЕШЕНИЯ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7" name="Google Shape;407;p10"/>
          <p:cNvSpPr txBox="1"/>
          <p:nvPr>
            <p:ph idx="1" type="body"/>
          </p:nvPr>
        </p:nvSpPr>
        <p:spPr>
          <a:xfrm>
            <a:off x="533607" y="1627632"/>
            <a:ext cx="9875520" cy="9342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SzPts val="1400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Организаторы дают отдельные снимки. Вывод делается уже по одному снимку («предварительно») и подтверждается серией снимков за день — без видеопотока и трекинга.</a:t>
            </a:r>
          </a:p>
        </p:txBody>
      </p:sp>
      <p:sp>
        <p:nvSpPr>
          <p:cNvPr id="408" name="Google Shape;408;p10"/>
          <p:cNvSpPr txBox="1"/>
          <p:nvPr/>
        </p:nvSpPr>
        <p:spPr>
          <a:xfrm>
            <a:off x="533607" y="1216152"/>
            <a:ext cx="9875520" cy="3539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Снимки, а не видео</a:t>
            </a:r>
          </a:p>
        </p:txBody>
      </p:sp>
      <p:sp>
        <p:nvSpPr>
          <p:cNvPr id="409" name="Google Shape;409;p10"/>
          <p:cNvSpPr txBox="1"/>
          <p:nvPr/>
        </p:nvSpPr>
        <p:spPr>
          <a:xfrm>
            <a:off x="533607" y="4983480"/>
            <a:ext cx="9875520" cy="10553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Правила и API работают на CPU, детектор — через ONNX. Требование бетононасоса видно в карточке этапа, но не проверяется, пока класса нет в модели, — без ложных тревог.</a:t>
            </a:r>
          </a:p>
        </p:txBody>
      </p:sp>
      <p:sp>
        <p:nvSpPr>
          <p:cNvPr id="410" name="Google Shape;410;p10"/>
          <p:cNvSpPr txBox="1"/>
          <p:nvPr/>
        </p:nvSpPr>
        <p:spPr>
          <a:xfrm>
            <a:off x="533608" y="4526280"/>
            <a:ext cx="9875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Ноутбук без GPU и классы, которых нет в модели</a:t>
            </a:r>
          </a:p>
        </p:txBody>
      </p:sp>
      <p:sp>
        <p:nvSpPr>
          <p:cNvPr id="411" name="Google Shape;411;p10"/>
          <p:cNvSpPr txBox="1"/>
          <p:nvPr/>
        </p:nvSpPr>
        <p:spPr>
          <a:xfrm>
            <a:off x="533607" y="3310128"/>
            <a:ext cx="9875520" cy="10785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Ввели наблюдаемость: 169 видов работ проверяются по технике, 208 — только на лишнюю технику. Замечания экспертов из справочника учтены явно: фасад — по стадии на кадре общего плана.</a:t>
            </a:r>
          </a:p>
        </p:txBody>
      </p:sp>
      <p:sp>
        <p:nvSpPr>
          <p:cNvPr id="412" name="Google Shape;412;p10"/>
          <p:cNvSpPr txBox="1"/>
          <p:nvPr/>
        </p:nvSpPr>
        <p:spPr>
          <a:xfrm>
            <a:off x="533607" y="2852928"/>
            <a:ext cx="9875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377 видов работ, и половина не видна с камер</a:t>
            </a:r>
          </a:p>
        </p:txBody>
      </p:sp>
      <p:cxnSp>
        <p:nvCxnSpPr>
          <p:cNvPr id="413" name="Google Shape;413;p10"/>
          <p:cNvCxnSpPr/>
          <p:nvPr/>
        </p:nvCxnSpPr>
        <p:spPr>
          <a:xfrm>
            <a:off x="623888" y="2745691"/>
            <a:ext cx="1123315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14" name="Google Shape;414;p10"/>
          <p:cNvCxnSpPr/>
          <p:nvPr/>
        </p:nvCxnSpPr>
        <p:spPr>
          <a:xfrm>
            <a:off x="623888" y="4407066"/>
            <a:ext cx="1123315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415" name="Google Shape;415;p10"/>
          <p:cNvCxnSpPr/>
          <p:nvPr/>
        </p:nvCxnSpPr>
        <p:spPr>
          <a:xfrm>
            <a:off x="623888" y="1110074"/>
            <a:ext cx="1123315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416" name="Google Shape;416;p10"/>
          <p:cNvSpPr txBox="1"/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1" lang="ru-RU" sz="1400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01</a:t>
            </a:r>
            <a:endParaRPr/>
          </a:p>
        </p:txBody>
      </p:sp>
      <p:sp>
        <p:nvSpPr>
          <p:cNvPr id="417" name="Google Shape;417;p10"/>
          <p:cNvSpPr txBox="1"/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1" lang="ru-RU" sz="1400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02</a:t>
            </a:r>
            <a:endParaRPr/>
          </a:p>
        </p:txBody>
      </p:sp>
      <p:sp>
        <p:nvSpPr>
          <p:cNvPr id="418" name="Google Shape;418;p10"/>
          <p:cNvSpPr txBox="1"/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r>
              <a:rPr b="1" lang="ru-RU" sz="1400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11"/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4" name="Google Shape;424;p11"/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fmla="val 3865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5" name="Google Shape;425;p11"/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fmla="val 3407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26" name="Google Shape;426;p11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427" name="Google Shape;427;p11"/>
          <p:cNvSpPr txBox="1"/>
          <p:nvPr>
            <p:ph idx="2" type="body"/>
          </p:nvPr>
        </p:nvSpPr>
        <p:spPr>
          <a:xfrm>
            <a:off x="589493" y="1920927"/>
            <a:ext cx="4929861" cy="38685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82880" lvl="0" marL="182880" rtl="0" algn="l">
              <a:lnSpc>
                <a:spcPct val="90000"/>
              </a:lnSpc>
              <a:buSzPts val="1400"/>
              <a:spcBef>
                <a:spcPts val="0"/>
              </a:spcBef>
              <a:spcAft>
                <a:spcPts val="1200"/>
              </a:spcAft>
              <a:buClr>
                <a:srgbClr val="FF0053"/>
              </a:buClr>
              <a:buFont typeface="Arial"/>
              <a:buChar char="•"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RF-DETR Large: v1 — 10 классов, mAP50 0,907; v2 — весь перечень ТЗ (+ каток, грузовик)</a:t>
            </a:r>
          </a:p>
          <a:p>
            <a:pPr marL="182880" indent="-182880">
              <a:spcBef>
                <a:spcPts val="0"/>
              </a:spcBef>
              <a:spcAft>
                <a:spcPts val="1200"/>
              </a:spcAft>
              <a:buClr>
                <a:srgbClr val="FF0053"/>
              </a:buClr>
              <a:buFont typeface="Arial"/>
              <a:buChar char="•"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Методика на 377 видов работ справочника: 46 профилей техники и парные правила</a:t>
            </a:r>
          </a:p>
          <a:p>
            <a:pPr marL="182880" indent="-182880">
              <a:spcBef>
                <a:spcPts val="0"/>
              </a:spcBef>
              <a:spcAft>
                <a:spcPts val="1200"/>
              </a:spcAft>
              <a:buClr>
                <a:srgbClr val="FF0053"/>
              </a:buClr>
              <a:buFont typeface="Arial"/>
              <a:buChar char="•"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10 правил отклонений: «предварительно» по снимку, «подтверждено» серией</a:t>
            </a:r>
          </a:p>
          <a:p>
            <a:pPr marL="182880" indent="-182880">
              <a:spcBef>
                <a:spcPts val="0"/>
              </a:spcBef>
              <a:spcAft>
                <a:spcPts val="1200"/>
              </a:spcAft>
              <a:buClr>
                <a:srgbClr val="FF0053"/>
              </a:buClr>
              <a:buFont typeface="Arial"/>
              <a:buChar char="•"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Каждое предупреждение — зона, этап, снимки с рамками, расчёт, рекомендация</a:t>
            </a:r>
          </a:p>
          <a:p>
            <a:pPr marL="182880" indent="-182880">
              <a:spcBef>
                <a:spcPts val="0"/>
              </a:spcBef>
              <a:spcAft>
                <a:spcPts val="1200"/>
              </a:spcAft>
              <a:buClr>
                <a:srgbClr val="FF0053"/>
              </a:buClr>
              <a:buFont typeface="Arial"/>
              <a:buChar char="•"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FastAPI, PostgreSQL, Docker; работает на ноутбуке без GPU</a:t>
            </a:r>
          </a:p>
        </p:txBody>
      </p:sp>
      <p:sp>
        <p:nvSpPr>
          <p:cNvPr id="428" name="Google Shape;428;p11"/>
          <p:cNvSpPr txBox="1"/>
          <p:nvPr>
            <p:ph idx="6" type="body"/>
          </p:nvPr>
        </p:nvSpPr>
        <p:spPr>
          <a:xfrm>
            <a:off x="6513513" y="1920927"/>
            <a:ext cx="4957144" cy="38764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82880" lvl="0" marL="182880" rtl="0" algn="l">
              <a:lnSpc>
                <a:spcPct val="90000"/>
              </a:lnSpc>
              <a:buSzPts val="1400"/>
              <a:spcBef>
                <a:spcPts val="0"/>
              </a:spcBef>
              <a:spcAft>
                <a:spcPts val="1200"/>
              </a:spcAft>
              <a:buClr>
                <a:srgbClr val="FF0053"/>
              </a:buClr>
              <a:buFont typeface="Arial"/>
              <a:buChar char="•"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Для кого: стройконтроль и технадзор, руководители проектов, генподрядчики</a:t>
            </a:r>
          </a:p>
          <a:p>
            <a:pPr marL="182880" indent="-182880">
              <a:spcBef>
                <a:spcPts val="0"/>
              </a:spcBef>
              <a:spcAft>
                <a:spcPts val="1200"/>
              </a:spcAft>
              <a:buClr>
                <a:srgbClr val="FF0053"/>
              </a:buClr>
              <a:buFont typeface="Arial"/>
              <a:buChar char="•"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Объективная картина площадки в течение часа — вместо звонков подрядчикам</a:t>
            </a:r>
          </a:p>
          <a:p>
            <a:pPr marL="182880" indent="-182880">
              <a:spcBef>
                <a:spcPts val="0"/>
              </a:spcBef>
              <a:spcAft>
                <a:spcPts val="1200"/>
              </a:spcAft>
              <a:buClr>
                <a:srgbClr val="FF0053"/>
              </a:buClr>
              <a:buFont typeface="Arial"/>
              <a:buChar char="•"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Раннее предупреждение о снижении темпа с причиной и снимком</a:t>
            </a:r>
          </a:p>
          <a:p>
            <a:pPr marL="182880" indent="-182880">
              <a:spcBef>
                <a:spcPts val="0"/>
              </a:spcBef>
              <a:spcAft>
                <a:spcPts val="1200"/>
              </a:spcAft>
              <a:buClr>
                <a:srgbClr val="FF0053"/>
              </a:buClr>
              <a:buFont typeface="Arial"/>
              <a:buChar char="•"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Использует камеры, которые уже стоят на площадках (п. 10.13 справочника, 299-ПП)</a:t>
            </a:r>
          </a:p>
          <a:p>
            <a:pPr marL="182880" indent="-182880">
              <a:spcBef>
                <a:spcPts val="0"/>
              </a:spcBef>
              <a:spcAft>
                <a:spcPts val="1200"/>
              </a:spcAft>
              <a:buClr>
                <a:srgbClr val="FF0053"/>
              </a:buClr>
              <a:buFont typeface="Arial"/>
              <a:buChar char="•"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Условный расчёт на объект: эффект ≈ 351 тыс. ₽ в месяц при затратах 40 тыс. ₽</a:t>
            </a:r>
          </a:p>
        </p:txBody>
      </p:sp>
      <p:sp>
        <p:nvSpPr>
          <p:cNvPr id="429" name="Google Shape;429;p11"/>
          <p:cNvSpPr txBox="1"/>
          <p:nvPr>
            <p:ph type="title"/>
          </p:nvPr>
        </p:nvSpPr>
        <p:spPr>
          <a:xfrm>
            <a:off x="525817" y="456851"/>
            <a:ext cx="986273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00"/>
              <a:buFont typeface="Montserrat"/>
              <a:buNone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430" name="Google Shape;430;p11"/>
          <p:cNvSpPr txBox="1"/>
          <p:nvPr>
            <p:ph idx="16" type="body"/>
          </p:nvPr>
        </p:nvSpPr>
        <p:spPr>
          <a:xfrm>
            <a:off x="578063" y="1476583"/>
            <a:ext cx="4929861" cy="5551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None/>
            </a:pPr>
            <a:r>
              <a:rPr b="1" lang="ru-RU" sz="2000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431" name="Google Shape;431;p11"/>
          <p:cNvSpPr txBox="1"/>
          <p:nvPr>
            <p:ph idx="18" type="body"/>
          </p:nvPr>
        </p:nvSpPr>
        <p:spPr>
          <a:xfrm>
            <a:off x="6513513" y="1476583"/>
            <a:ext cx="5214724" cy="5615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000"/>
              <a:buNone/>
            </a:pPr>
            <a:r>
              <a:rPr b="1" lang="ru-RU" sz="2000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31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</a:pPr>
            <a:r>
              <a:t/>
            </a:r>
            <a:endParaRPr b="1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24"/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fmla="val 515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4" name="Google Shape;624;p24"/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fmla="val 515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5" name="Google Shape;625;p24"/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fmla="val 515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6" name="Google Shape;626;p24"/>
          <p:cNvSpPr/>
          <p:nvPr/>
        </p:nvSpPr>
        <p:spPr>
          <a:xfrm>
            <a:off x="346075" y="324562"/>
            <a:ext cx="3831335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7" name="Google Shape;627;p24"/>
          <p:cNvSpPr/>
          <p:nvPr/>
        </p:nvSpPr>
        <p:spPr>
          <a:xfrm>
            <a:off x="5340262" y="1366572"/>
            <a:ext cx="1504594" cy="1401168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8" name="Google Shape;628;p24"/>
          <p:cNvSpPr/>
          <p:nvPr/>
        </p:nvSpPr>
        <p:spPr>
          <a:xfrm>
            <a:off x="1541018" y="1366572"/>
            <a:ext cx="1504594" cy="1401168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9" name="Google Shape;629;p24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630" name="Google Shape;630;p24"/>
          <p:cNvSpPr/>
          <p:nvPr>
            <p:ph idx="1" type="body"/>
          </p:nvPr>
        </p:nvSpPr>
        <p:spPr>
          <a:xfrm>
            <a:off x="616304" y="3286814"/>
            <a:ext cx="3264113" cy="2375115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</a:pPr>
            <a:r>
              <a:rPr sz="1800" b="1" i="0">
                <a:solidFill>
                  <a:srgbClr val="520978"/>
                </a:solidFill>
                <a:latin typeface="Montserrat"/>
              </a:rPr>
              <a:t>Сейчас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Соответствие плану проверяют вручную: просмотр камер, звонки подрядчикам, субъективная оценка. Отклонения замечают поздно.</a:t>
            </a:r>
          </a:p>
        </p:txBody>
      </p:sp>
      <p:sp>
        <p:nvSpPr>
          <p:cNvPr id="631" name="Google Shape;631;p24"/>
          <p:cNvSpPr/>
          <p:nvPr>
            <p:ph idx="2" type="body"/>
          </p:nvPr>
        </p:nvSpPr>
        <p:spPr>
          <a:xfrm>
            <a:off x="4569890" y="3264544"/>
            <a:ext cx="3264113" cy="2375115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</a:pPr>
            <a:r>
              <a:rPr sz="1800" b="1" i="0">
                <a:solidFill>
                  <a:srgbClr val="520978"/>
                </a:solidFill>
                <a:latin typeface="Montserrat"/>
              </a:rPr>
              <a:t>ОКО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Снимки камер → техника → зона и этап графика → отклонение со снимками-доказательствами → вердикт инженера → нарушение.</a:t>
            </a:r>
          </a:p>
        </p:txBody>
      </p:sp>
      <p:sp>
        <p:nvSpPr>
          <p:cNvPr id="632" name="Google Shape;632;p24"/>
          <p:cNvSpPr/>
          <p:nvPr>
            <p:ph idx="3" type="body"/>
          </p:nvPr>
        </p:nvSpPr>
        <p:spPr>
          <a:xfrm>
            <a:off x="8405081" y="3277471"/>
            <a:ext cx="3264113" cy="2375115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</a:pPr>
            <a:r>
              <a:rPr sz="1800" b="1" i="0">
                <a:solidFill>
                  <a:srgbClr val="520978"/>
                </a:solidFill>
                <a:latin typeface="Montserrat"/>
              </a:rPr>
              <a:t>Результат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Картина площадки в течение часа, раннее предупреждение о срыве темпа с причиной, реестр нарушений с подрядчиком и сроком.</a:t>
            </a:r>
          </a:p>
        </p:txBody>
      </p:sp>
      <p:cxnSp>
        <p:nvCxnSpPr>
          <p:cNvPr id="633" name="Google Shape;633;p24"/>
          <p:cNvCxnSpPr/>
          <p:nvPr/>
        </p:nvCxnSpPr>
        <p:spPr>
          <a:xfrm flipH="1" rot="10800000">
            <a:off x="3041995" y="2120995"/>
            <a:ext cx="2288595" cy="11479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grpSp>
        <p:nvGrpSpPr>
          <p:cNvPr id="634" name="Google Shape;634;p24"/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5" name="Google Shape;635;p24"/>
            <p:cNvSpPr/>
            <p:nvPr/>
          </p:nvSpPr>
          <p:spPr>
            <a:xfrm>
              <a:off x="3385734" y="2233242"/>
              <a:ext cx="340504" cy="319542"/>
            </a:xfrm>
            <a:custGeom>
              <a:rect b="b" l="l" r="r" t="t"/>
              <a:pathLst>
                <a:path extrusionOk="0" h="9289" w="10122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36" name="Google Shape;636;p24"/>
            <p:cNvSpPr/>
            <p:nvPr/>
          </p:nvSpPr>
          <p:spPr>
            <a:xfrm>
              <a:off x="3420989" y="2296022"/>
              <a:ext cx="143441" cy="113382"/>
            </a:xfrm>
            <a:custGeom>
              <a:rect b="b" l="l" r="r" t="t"/>
              <a:pathLst>
                <a:path extrusionOk="0" h="3296" w="4264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37" name="Google Shape;637;p24"/>
            <p:cNvSpPr/>
            <p:nvPr/>
          </p:nvSpPr>
          <p:spPr>
            <a:xfrm>
              <a:off x="3451433" y="2319276"/>
              <a:ext cx="9655" cy="13966"/>
            </a:xfrm>
            <a:custGeom>
              <a:rect b="b" l="l" r="r" t="t"/>
              <a:pathLst>
                <a:path extrusionOk="0" h="406" w="287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38" name="Google Shape;638;p24"/>
            <p:cNvSpPr/>
            <p:nvPr/>
          </p:nvSpPr>
          <p:spPr>
            <a:xfrm>
              <a:off x="3500312" y="2305344"/>
              <a:ext cx="10428" cy="13966"/>
            </a:xfrm>
            <a:custGeom>
              <a:rect b="b" l="l" r="r" t="t"/>
              <a:pathLst>
                <a:path extrusionOk="0" h="406" w="31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39" name="Google Shape;639;p24"/>
            <p:cNvSpPr/>
            <p:nvPr/>
          </p:nvSpPr>
          <p:spPr>
            <a:xfrm>
              <a:off x="3546769" y="2275038"/>
              <a:ext cx="10462" cy="13966"/>
            </a:xfrm>
            <a:custGeom>
              <a:rect b="b" l="l" r="r" t="t"/>
              <a:pathLst>
                <a:path extrusionOk="0" h="406" w="311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40" name="Google Shape;640;p24"/>
            <p:cNvSpPr/>
            <p:nvPr/>
          </p:nvSpPr>
          <p:spPr>
            <a:xfrm>
              <a:off x="3420989" y="2260280"/>
              <a:ext cx="27282" cy="9873"/>
            </a:xfrm>
            <a:custGeom>
              <a:rect b="b" l="l" r="r" t="t"/>
              <a:pathLst>
                <a:path extrusionOk="0" h="287" w="811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41" name="Google Shape;641;p24"/>
            <p:cNvSpPr/>
            <p:nvPr/>
          </p:nvSpPr>
          <p:spPr>
            <a:xfrm>
              <a:off x="3420989" y="2279131"/>
              <a:ext cx="47298" cy="10698"/>
            </a:xfrm>
            <a:custGeom>
              <a:rect b="b" l="l" r="r" t="t"/>
              <a:pathLst>
                <a:path extrusionOk="0" h="311" w="1406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42" name="Google Shape;642;p24"/>
            <p:cNvSpPr/>
            <p:nvPr/>
          </p:nvSpPr>
          <p:spPr>
            <a:xfrm>
              <a:off x="3640490" y="2276689"/>
              <a:ext cx="31285" cy="54077"/>
            </a:xfrm>
            <a:custGeom>
              <a:rect b="b" l="l" r="r" t="t"/>
              <a:pathLst>
                <a:path extrusionOk="0" h="1572" w="93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43" name="Google Shape;643;p24"/>
            <p:cNvSpPr/>
            <p:nvPr/>
          </p:nvSpPr>
          <p:spPr>
            <a:xfrm>
              <a:off x="3614049" y="2260280"/>
              <a:ext cx="84167" cy="86069"/>
            </a:xfrm>
            <a:custGeom>
              <a:rect b="b" l="l" r="r" t="t"/>
              <a:pathLst>
                <a:path extrusionOk="0" h="2502" w="2502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44" name="Google Shape;644;p24"/>
            <p:cNvSpPr/>
            <p:nvPr/>
          </p:nvSpPr>
          <p:spPr>
            <a:xfrm>
              <a:off x="3610046" y="2358595"/>
              <a:ext cx="45717" cy="10698"/>
            </a:xfrm>
            <a:custGeom>
              <a:rect b="b" l="l" r="r" t="t"/>
              <a:pathLst>
                <a:path extrusionOk="0" h="311" w="1359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45" name="Google Shape;645;p24"/>
            <p:cNvSpPr/>
            <p:nvPr/>
          </p:nvSpPr>
          <p:spPr>
            <a:xfrm>
              <a:off x="3671742" y="2379063"/>
              <a:ext cx="25667" cy="9873"/>
            </a:xfrm>
            <a:custGeom>
              <a:rect b="b" l="l" r="r" t="t"/>
              <a:pathLst>
                <a:path extrusionOk="0" h="287" w="763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46" name="Google Shape;646;p24"/>
            <p:cNvSpPr/>
            <p:nvPr/>
          </p:nvSpPr>
          <p:spPr>
            <a:xfrm>
              <a:off x="3610046" y="2379063"/>
              <a:ext cx="28897" cy="9873"/>
            </a:xfrm>
            <a:custGeom>
              <a:rect b="b" l="l" r="r" t="t"/>
              <a:pathLst>
                <a:path extrusionOk="0" h="287" w="859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47" name="Google Shape;647;p24"/>
            <p:cNvSpPr/>
            <p:nvPr/>
          </p:nvSpPr>
          <p:spPr>
            <a:xfrm>
              <a:off x="3646108" y="2379063"/>
              <a:ext cx="19276" cy="9873"/>
            </a:xfrm>
            <a:custGeom>
              <a:rect b="b" l="l" r="r" t="t"/>
              <a:pathLst>
                <a:path extrusionOk="0" h="287" w="573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48" name="Google Shape;648;p24"/>
            <p:cNvSpPr/>
            <p:nvPr/>
          </p:nvSpPr>
          <p:spPr>
            <a:xfrm>
              <a:off x="3610046" y="2398740"/>
              <a:ext cx="86556" cy="10664"/>
            </a:xfrm>
            <a:custGeom>
              <a:rect b="b" l="l" r="r" t="t"/>
              <a:pathLst>
                <a:path extrusionOk="0" h="310" w="2573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649" name="Google Shape;649;p24"/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650" name="Google Shape;650;p24"/>
            <p:cNvSpPr/>
            <p:nvPr/>
          </p:nvSpPr>
          <p:spPr>
            <a:xfrm>
              <a:off x="4267775" y="2311674"/>
              <a:ext cx="17661" cy="13382"/>
            </a:xfrm>
            <a:custGeom>
              <a:rect b="b" l="l" r="r" t="t"/>
              <a:pathLst>
                <a:path extrusionOk="0" h="389" w="525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51" name="Google Shape;651;p24"/>
            <p:cNvSpPr/>
            <p:nvPr/>
          </p:nvSpPr>
          <p:spPr>
            <a:xfrm>
              <a:off x="4257347" y="2292719"/>
              <a:ext cx="16080" cy="15927"/>
            </a:xfrm>
            <a:custGeom>
              <a:rect b="b" l="l" r="r" t="t"/>
              <a:pathLst>
                <a:path extrusionOk="0" h="463" w="478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52" name="Google Shape;652;p24"/>
            <p:cNvSpPr/>
            <p:nvPr/>
          </p:nvSpPr>
          <p:spPr>
            <a:xfrm>
              <a:off x="4271778" y="2333208"/>
              <a:ext cx="17661" cy="11490"/>
            </a:xfrm>
            <a:custGeom>
              <a:rect b="b" l="l" r="r" t="t"/>
              <a:pathLst>
                <a:path extrusionOk="0" h="334" w="525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53" name="Google Shape;653;p24"/>
            <p:cNvSpPr/>
            <p:nvPr/>
          </p:nvSpPr>
          <p:spPr>
            <a:xfrm>
              <a:off x="4078718" y="2222819"/>
              <a:ext cx="340504" cy="339803"/>
            </a:xfrm>
            <a:custGeom>
              <a:rect b="b" l="l" r="r" t="t"/>
              <a:pathLst>
                <a:path extrusionOk="0" h="9878" w="10122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54" name="Google Shape;654;p24"/>
            <p:cNvSpPr/>
            <p:nvPr/>
          </p:nvSpPr>
          <p:spPr>
            <a:xfrm>
              <a:off x="4123561" y="2296744"/>
              <a:ext cx="170689" cy="161818"/>
            </a:xfrm>
            <a:custGeom>
              <a:rect b="b" l="l" r="r" t="t"/>
              <a:pathLst>
                <a:path extrusionOk="0" h="4704" w="5074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55" name="Google Shape;655;p24"/>
            <p:cNvSpPr/>
            <p:nvPr/>
          </p:nvSpPr>
          <p:spPr>
            <a:xfrm>
              <a:off x="4130793" y="2276448"/>
              <a:ext cx="47298" cy="25662"/>
            </a:xfrm>
            <a:custGeom>
              <a:rect b="b" l="l" r="r" t="t"/>
              <a:pathLst>
                <a:path extrusionOk="0" h="746" w="1406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56" name="Google Shape;656;p24"/>
            <p:cNvSpPr/>
            <p:nvPr/>
          </p:nvSpPr>
          <p:spPr>
            <a:xfrm>
              <a:off x="4137992" y="2301423"/>
              <a:ext cx="25667" cy="16237"/>
            </a:xfrm>
            <a:custGeom>
              <a:rect b="b" l="l" r="r" t="t"/>
              <a:pathLst>
                <a:path extrusionOk="0" h="472" w="763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57" name="Google Shape;657;p24"/>
            <p:cNvSpPr/>
            <p:nvPr/>
          </p:nvSpPr>
          <p:spPr>
            <a:xfrm>
              <a:off x="4161237" y="2507685"/>
              <a:ext cx="35288" cy="9873"/>
            </a:xfrm>
            <a:custGeom>
              <a:rect b="b" l="l" r="r" t="t"/>
              <a:pathLst>
                <a:path extrusionOk="0" h="287" w="1049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58" name="Google Shape;658;p24"/>
            <p:cNvSpPr/>
            <p:nvPr/>
          </p:nvSpPr>
          <p:spPr>
            <a:xfrm>
              <a:off x="4161237" y="2525711"/>
              <a:ext cx="81745" cy="10698"/>
            </a:xfrm>
            <a:custGeom>
              <a:rect b="b" l="l" r="r" t="t"/>
              <a:pathLst>
                <a:path extrusionOk="0" h="311" w="243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659" name="Google Shape;659;p24"/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660" name="Google Shape;660;p24"/>
            <p:cNvSpPr/>
            <p:nvPr/>
          </p:nvSpPr>
          <p:spPr>
            <a:xfrm>
              <a:off x="4754041" y="2231625"/>
              <a:ext cx="340538" cy="322810"/>
            </a:xfrm>
            <a:custGeom>
              <a:rect b="b" l="l" r="r" t="t"/>
              <a:pathLst>
                <a:path extrusionOk="0" h="9384" w="10123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61" name="Google Shape;661;p24"/>
            <p:cNvSpPr/>
            <p:nvPr/>
          </p:nvSpPr>
          <p:spPr>
            <a:xfrm>
              <a:off x="5011219" y="2437234"/>
              <a:ext cx="45683" cy="9873"/>
            </a:xfrm>
            <a:custGeom>
              <a:rect b="b" l="l" r="r" t="t"/>
              <a:pathLst>
                <a:path extrusionOk="0" h="287" w="1358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62" name="Google Shape;662;p24"/>
            <p:cNvSpPr/>
            <p:nvPr/>
          </p:nvSpPr>
          <p:spPr>
            <a:xfrm>
              <a:off x="4976772" y="2455259"/>
              <a:ext cx="80130" cy="10698"/>
            </a:xfrm>
            <a:custGeom>
              <a:rect b="b" l="l" r="r" t="t"/>
              <a:pathLst>
                <a:path extrusionOk="0" h="311" w="2382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63" name="Google Shape;663;p24"/>
            <p:cNvSpPr/>
            <p:nvPr/>
          </p:nvSpPr>
          <p:spPr>
            <a:xfrm>
              <a:off x="4976772" y="2302902"/>
              <a:ext cx="16854" cy="10664"/>
            </a:xfrm>
            <a:custGeom>
              <a:rect b="b" l="l" r="r" t="t"/>
              <a:pathLst>
                <a:path extrusionOk="0" h="310" w="501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64" name="Google Shape;664;p24"/>
            <p:cNvSpPr/>
            <p:nvPr/>
          </p:nvSpPr>
          <p:spPr>
            <a:xfrm>
              <a:off x="5001598" y="2302902"/>
              <a:ext cx="55304" cy="10664"/>
            </a:xfrm>
            <a:custGeom>
              <a:rect b="b" l="l" r="r" t="t"/>
              <a:pathLst>
                <a:path extrusionOk="0" h="310" w="1644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65" name="Google Shape;665;p24"/>
            <p:cNvSpPr/>
            <p:nvPr/>
          </p:nvSpPr>
          <p:spPr>
            <a:xfrm>
              <a:off x="4976772" y="2321719"/>
              <a:ext cx="80130" cy="9873"/>
            </a:xfrm>
            <a:custGeom>
              <a:rect b="b" l="l" r="r" t="t"/>
              <a:pathLst>
                <a:path extrusionOk="0" h="287" w="2382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66" name="Google Shape;666;p24"/>
            <p:cNvSpPr/>
            <p:nvPr/>
          </p:nvSpPr>
          <p:spPr>
            <a:xfrm>
              <a:off x="4976772" y="2352025"/>
              <a:ext cx="80130" cy="65601"/>
            </a:xfrm>
            <a:custGeom>
              <a:rect b="b" l="l" r="r" t="t"/>
              <a:pathLst>
                <a:path extrusionOk="0" h="1907" w="2382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67" name="Google Shape;667;p24"/>
            <p:cNvSpPr/>
            <p:nvPr/>
          </p:nvSpPr>
          <p:spPr>
            <a:xfrm>
              <a:off x="4789296" y="2294680"/>
              <a:ext cx="168267" cy="172069"/>
            </a:xfrm>
            <a:custGeom>
              <a:rect b="b" l="l" r="r" t="t"/>
              <a:pathLst>
                <a:path extrusionOk="0" h="5002" w="5002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68" name="Google Shape;668;p24"/>
            <p:cNvSpPr/>
            <p:nvPr/>
          </p:nvSpPr>
          <p:spPr>
            <a:xfrm>
              <a:off x="4794107" y="2453402"/>
              <a:ext cx="24086" cy="17475"/>
            </a:xfrm>
            <a:custGeom>
              <a:rect b="b" l="l" r="r" t="t"/>
              <a:pathLst>
                <a:path extrusionOk="0" h="508" w="716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69" name="Google Shape;669;p24"/>
            <p:cNvSpPr/>
            <p:nvPr/>
          </p:nvSpPr>
          <p:spPr>
            <a:xfrm>
              <a:off x="4883051" y="2382744"/>
              <a:ext cx="24053" cy="16856"/>
            </a:xfrm>
            <a:custGeom>
              <a:rect b="b" l="l" r="r" t="t"/>
              <a:pathLst>
                <a:path extrusionOk="0" h="490" w="715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670" name="Google Shape;670;p24"/>
            <p:cNvSpPr/>
            <p:nvPr/>
          </p:nvSpPr>
          <p:spPr>
            <a:xfrm>
              <a:off x="4935899" y="2304106"/>
              <a:ext cx="24086" cy="16856"/>
            </a:xfrm>
            <a:custGeom>
              <a:rect b="b" l="l" r="r" t="t"/>
              <a:pathLst>
                <a:path extrusionOk="0" h="490" w="716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Montserrat"/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671" name="Google Shape;671;p24"/>
          <p:cNvSpPr/>
          <p:nvPr/>
        </p:nvSpPr>
        <p:spPr>
          <a:xfrm>
            <a:off x="9337010" y="1396603"/>
            <a:ext cx="1504594" cy="1401168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2" name="Google Shape;672;p24"/>
          <p:cNvSpPr txBox="1"/>
          <p:nvPr>
            <p:ph type="title"/>
          </p:nvPr>
        </p:nvSpPr>
        <p:spPr>
          <a:xfrm>
            <a:off x="525817" y="421226"/>
            <a:ext cx="3831335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non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</a:pPr>
            <a:r>
              <a:rPr sz="2000" b="1">
                <a:latin typeface="Montserrat"/>
              </a:rPr>
              <a:t>ЗАДАЧА И РЕШЕНИЕ</a:t>
            </a:r>
            <a:endParaRPr/>
          </a:p>
        </p:txBody>
      </p:sp>
      <p:cxnSp>
        <p:nvCxnSpPr>
          <p:cNvPr id="673" name="Google Shape;673;p24"/>
          <p:cNvCxnSpPr/>
          <p:nvPr/>
        </p:nvCxnSpPr>
        <p:spPr>
          <a:xfrm flipH="1" rot="10800000">
            <a:off x="6843165" y="2119165"/>
            <a:ext cx="2489934" cy="12489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8"/>
          <p:cNvSpPr/>
          <p:nvPr/>
        </p:nvSpPr>
        <p:spPr>
          <a:xfrm>
            <a:off x="346075" y="324562"/>
            <a:ext cx="4814316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0" name="Google Shape;520;p18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533" name="Google Shape;533;p18"/>
          <p:cNvSpPr txBox="1"/>
          <p:nvPr>
            <p:ph type="title"/>
          </p:nvPr>
        </p:nvSpPr>
        <p:spPr>
          <a:xfrm>
            <a:off x="525817" y="421226"/>
            <a:ext cx="4814316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non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</a:pPr>
            <a:r>
              <a:rPr sz="2000" b="1">
                <a:latin typeface="Montserrat"/>
              </a:rPr>
              <a:t>СНИМОК → ЭТАП ГРАФИКА</a:t>
            </a:r>
            <a:endParaRPr/>
          </a:p>
        </p:txBody>
      </p:sp>
      <p:pic>
        <p:nvPicPr>
          <p:cNvPr id="534" name="Picture 533" descr="ma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11384280" cy="4765513"/>
          </a:xfrm>
          <a:prstGeom prst="rect">
            <a:avLst/>
          </a:prstGeom>
        </p:spPr>
      </p:pic>
      <p:sp>
        <p:nvSpPr>
          <p:cNvPr id="535" name="TextBox 534"/>
          <p:cNvSpPr txBox="1"/>
          <p:nvPr/>
        </p:nvSpPr>
        <p:spPr>
          <a:xfrm>
            <a:off x="411480" y="5989320"/>
            <a:ext cx="1078992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Связь — через два ключа: </a:t>
            </a:r>
            <a:r>
              <a:rPr sz="1200" b="1" i="0">
                <a:solidFill>
                  <a:srgbClr val="1C1D22"/>
                </a:solidFill>
                <a:latin typeface="Montserrat"/>
              </a:rPr>
              <a:t>зона на кадре = захватка графика</a:t>
            </a:r>
            <a:r>
              <a:rPr sz="1200" b="0" i="0">
                <a:solidFill>
                  <a:srgbClr val="1C1D22"/>
                </a:solidFill>
                <a:latin typeface="Montserrat"/>
              </a:rPr>
              <a:t>, </a:t>
            </a:r>
            <a:r>
              <a:rPr sz="1200" b="1" i="0">
                <a:solidFill>
                  <a:srgbClr val="1C1D22"/>
                </a:solidFill>
                <a:latin typeface="Montserrat"/>
              </a:rPr>
              <a:t>дата снимка = день графика</a:t>
            </a:r>
            <a:r>
              <a:rPr sz="1200" b="0" i="0">
                <a:solidFill>
                  <a:srgbClr val="1C1D22"/>
                </a:solidFill>
                <a:latin typeface="Montserrat"/>
              </a:rPr>
              <a:t>. Пример из ТЗ: котлован, экскаватор без самосвалов на двух снимках подряд.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8"/>
          <p:cNvSpPr/>
          <p:nvPr/>
        </p:nvSpPr>
        <p:spPr>
          <a:xfrm>
            <a:off x="346075" y="324562"/>
            <a:ext cx="4421124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0" name="Google Shape;520;p18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533" name="Google Shape;533;p18"/>
          <p:cNvSpPr txBox="1"/>
          <p:nvPr>
            <p:ph type="title"/>
          </p:nvPr>
        </p:nvSpPr>
        <p:spPr>
          <a:xfrm>
            <a:off x="525817" y="421226"/>
            <a:ext cx="442112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non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</a:pPr>
            <a:r>
              <a:rPr sz="2000" b="1">
                <a:latin typeface="Montserrat"/>
              </a:rPr>
              <a:t>АРХИТЕКТУРА РЕШЕНИЯ</a:t>
            </a:r>
            <a:endParaRPr/>
          </a:p>
        </p:txBody>
      </p:sp>
      <p:pic>
        <p:nvPicPr>
          <p:cNvPr id="534" name="Picture 533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11384280" cy="4434574"/>
          </a:xfrm>
          <a:prstGeom prst="rect">
            <a:avLst/>
          </a:prstGeom>
        </p:spPr>
      </p:pic>
      <p:sp>
        <p:nvSpPr>
          <p:cNvPr id="535" name="TextBox 534"/>
          <p:cNvSpPr txBox="1"/>
          <p:nvPr/>
        </p:nvSpPr>
        <p:spPr>
          <a:xfrm>
            <a:off x="411480" y="5715000"/>
            <a:ext cx="1088136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Модульный монолит на CPU; детектор сменный — PyTorch, ONNX, AI-сервис на GPU или демо-разметка. Движок правил — чистые функции, методика — данные. Один код для прототипа и эксплуатации.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0"/>
          <p:cNvSpPr/>
          <p:nvPr/>
        </p:nvSpPr>
        <p:spPr>
          <a:xfrm>
            <a:off x="346075" y="324562"/>
            <a:ext cx="5600700" cy="620919"/>
          </a:xfrm>
          <a:prstGeom prst="roundRect">
            <a:avLst>
              <a:gd fmla="val 18706" name="adj"/>
            </a:avLst>
          </a:prstGeom>
          <a:solidFill>
            <a:schemeClr val="accent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6" name="Google Shape;556;p20"/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fmla="val 16339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7" name="Google Shape;557;p20"/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fmla="val 16339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8" name="Google Shape;558;p20"/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fmla="val 16339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9" name="Google Shape;559;p20"/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fmla="val 16339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0" name="Google Shape;560;p20"/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fmla="val 16339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1" name="Google Shape;561;p20"/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fmla="val 2919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2" name="Google Shape;562;p20"/>
          <p:cNvSpPr txBox="1"/>
          <p:nvPr>
            <p:ph idx="1" type="body"/>
          </p:nvPr>
        </p:nvSpPr>
        <p:spPr>
          <a:xfrm>
            <a:off x="623887" y="1732103"/>
            <a:ext cx="4734175" cy="41393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>
                <a:srgbClr val="F2F2F2"/>
              </a:buClr>
              <a:buSzPts val="3600"/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Пример · 12.3.1 Устройство котлована</a:t>
            </a:r>
          </a:p>
          <a:p>
            <a:pPr marL="0" indent="0" algn="l">
              <a:spcBef>
                <a:spcPts val="0"/>
              </a:spcBef>
              <a:spcAft>
                <a:spcPts val="1000"/>
              </a:spcAft>
              <a:buNone/>
            </a:pPr>
            <a:r>
              <a:rPr sz="1100" b="0" i="0">
                <a:solidFill>
                  <a:srgbClr val="5E5873"/>
                </a:solidFill>
                <a:latin typeface="Montserrat"/>
              </a:rPr>
              <a:t>профиль «Разработка и вывоз грунта» · наблюдаемость высокая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FF0053"/>
              </a:buClr>
              <a:buFont typeface="Arial"/>
              <a:buChar char="•"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нужен </a:t>
            </a:r>
            <a:r>
              <a:rPr sz="1300" b="1" i="0">
                <a:solidFill>
                  <a:srgbClr val="1C1D22"/>
                </a:solidFill>
                <a:latin typeface="Montserrat"/>
              </a:rPr>
              <a:t>экскаватор</a:t>
            </a:r>
            <a:r>
              <a:rPr sz="1300" b="0" i="0">
                <a:solidFill>
                  <a:srgbClr val="1C1D22"/>
                </a:solidFill>
                <a:latin typeface="Montserrat"/>
              </a:rPr>
              <a:t> — на каждом снимке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FF0053"/>
              </a:buClr>
              <a:buFont typeface="Arial"/>
              <a:buChar char="•"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нужен </a:t>
            </a:r>
            <a:r>
              <a:rPr sz="1300" b="1" i="0">
                <a:solidFill>
                  <a:srgbClr val="1C1D22"/>
                </a:solidFill>
                <a:latin typeface="Montserrat"/>
              </a:rPr>
              <a:t>самосвал</a:t>
            </a:r>
            <a:r>
              <a:rPr sz="1300" b="0" i="0">
                <a:solidFill>
                  <a:srgbClr val="1C1D22"/>
                </a:solidFill>
                <a:latin typeface="Montserrat"/>
              </a:rPr>
              <a:t> — хотя бы раз за смену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FF0053"/>
              </a:buClr>
              <a:buFont typeface="Arial"/>
              <a:buChar char="•"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пара </a:t>
            </a:r>
            <a:r>
              <a:rPr sz="1300" b="1" i="0">
                <a:solidFill>
                  <a:srgbClr val="1C1D22"/>
                </a:solidFill>
                <a:latin typeface="Montserrat"/>
              </a:rPr>
              <a:t>экскаватор → самосвал</a:t>
            </a:r>
            <a:r>
              <a:rPr sz="1300" b="0" i="0">
                <a:solidFill>
                  <a:srgbClr val="1C1D22"/>
                </a:solidFill>
                <a:latin typeface="Montserrat"/>
              </a:rPr>
              <a:t>: «грунт не вывозится, возможно снижение темпа работ»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FF0053"/>
              </a:buClr>
              <a:buFont typeface="Arial"/>
              <a:buChar char="•"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допустимы бульдозер и погрузчик</a:t>
            </a:r>
          </a:p>
          <a:p>
            <a:pPr marL="182880" indent="-182880" algn="l">
              <a:spcBef>
                <a:spcPts val="0"/>
              </a:spcBef>
              <a:spcAft>
                <a:spcPts val="1000"/>
              </a:spcAft>
              <a:buClr>
                <a:srgbClr val="FF0053"/>
              </a:buClr>
              <a:buFont typeface="Arial"/>
              <a:buChar char="•"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каток в котловане — «техника не соответствует этапу»; если каток нужен этапу зоны через 2 недели — «опережение графика»</a:t>
            </a:r>
          </a:p>
          <a:p>
            <a:pPr marL="0" indent="0" algn="l">
              <a:spcBef>
                <a:spcPts val="0"/>
              </a:spcBef>
              <a:spcAft>
                <a:spcPts val="700"/>
              </a:spcAft>
              <a:buNone/>
            </a:pPr>
            <a:r>
              <a:rPr sz="1100" b="0" i="0">
                <a:solidFill>
                  <a:srgbClr val="5E5873"/>
                </a:solidFill>
                <a:latin typeface="Montserrat"/>
              </a:rPr>
              <a:t>Методика — YAML и XLSX для экспертов: правила меняются без программиста, версия правил пишется в каждое отклонение.</a:t>
            </a:r>
          </a:p>
        </p:txBody>
      </p:sp>
      <p:sp>
        <p:nvSpPr>
          <p:cNvPr id="563" name="Google Shape;563;p20"/>
          <p:cNvSpPr txBox="1"/>
          <p:nvPr>
            <p:ph idx="2" type="body"/>
          </p:nvPr>
        </p:nvSpPr>
        <p:spPr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52"/>
              <a:buNone/>
            </a:pPr>
            <a:r>
              <a:rPr sz="1200" b="1" i="0">
                <a:solidFill>
                  <a:srgbClr val="1C1D22"/>
                </a:solidFill>
                <a:latin typeface="Montserrat"/>
              </a:rPr>
              <a:t>377</a:t>
            </a:r>
            <a:r>
              <a:rPr sz="1200" b="0" i="0">
                <a:solidFill>
                  <a:srgbClr val="1C1D22"/>
                </a:solidFill>
                <a:latin typeface="Montserrat"/>
              </a:rPr>
              <a:t> видов работ справочника → </a:t>
            </a:r>
            <a:r>
              <a:rPr sz="1200" b="1" i="0">
                <a:solidFill>
                  <a:srgbClr val="1C1D22"/>
                </a:solidFill>
                <a:latin typeface="Montserrat"/>
              </a:rPr>
              <a:t>46</a:t>
            </a:r>
            <a:r>
              <a:rPr sz="1200" b="0" i="0">
                <a:solidFill>
                  <a:srgbClr val="1C1D22"/>
                </a:solidFill>
                <a:latin typeface="Montserrat"/>
              </a:rPr>
              <a:t> профилей техники + 18 составных для групп</a:t>
            </a:r>
          </a:p>
        </p:txBody>
      </p:sp>
      <p:sp>
        <p:nvSpPr>
          <p:cNvPr id="564" name="Google Shape;564;p20"/>
          <p:cNvSpPr txBox="1"/>
          <p:nvPr>
            <p:ph idx="3" type="body"/>
          </p:nvPr>
        </p:nvSpPr>
        <p:spPr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52"/>
              <a:buNone/>
            </a:pPr>
            <a:r>
              <a:rPr sz="1200" b="1" i="0">
                <a:solidFill>
                  <a:srgbClr val="1C1D22"/>
                </a:solidFill>
                <a:latin typeface="Montserrat"/>
              </a:rPr>
              <a:t>Высокая</a:t>
            </a:r>
            <a:r>
              <a:rPr sz="1200" b="0" i="0">
                <a:solidFill>
                  <a:srgbClr val="1C1D22"/>
                </a:solidFill>
                <a:latin typeface="Montserrat"/>
              </a:rPr>
              <a:t> наблюдаемость · 70 — нет техники = нет работ, проверка по каждому снимку</a:t>
            </a:r>
          </a:p>
        </p:txBody>
      </p:sp>
      <p:sp>
        <p:nvSpPr>
          <p:cNvPr id="565" name="Google Shape;565;p20"/>
          <p:cNvSpPr txBox="1"/>
          <p:nvPr>
            <p:ph idx="4" type="body"/>
          </p:nvPr>
        </p:nvSpPr>
        <p:spPr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52"/>
              <a:buNone/>
            </a:pPr>
            <a:r>
              <a:rPr sz="1200" b="1" i="0">
                <a:solidFill>
                  <a:srgbClr val="1C1D22"/>
                </a:solidFill>
                <a:latin typeface="Montserrat"/>
              </a:rPr>
              <a:t>Средняя</a:t>
            </a:r>
            <a:r>
              <a:rPr sz="1200" b="0" i="0">
                <a:solidFill>
                  <a:srgbClr val="1C1D22"/>
                </a:solidFill>
                <a:latin typeface="Montserrat"/>
              </a:rPr>
              <a:t> · 99 — подача, монтаж, доставка: техника хотя бы раз за смену</a:t>
            </a:r>
          </a:p>
        </p:txBody>
      </p:sp>
      <p:sp>
        <p:nvSpPr>
          <p:cNvPr id="566" name="Google Shape;566;p20"/>
          <p:cNvSpPr txBox="1"/>
          <p:nvPr>
            <p:ph idx="5" type="body"/>
          </p:nvPr>
        </p:nvSpPr>
        <p:spPr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52"/>
              <a:buNone/>
            </a:pPr>
            <a:r>
              <a:rPr sz="1200" b="1" i="0">
                <a:solidFill>
                  <a:srgbClr val="1C1D22"/>
                </a:solidFill>
                <a:latin typeface="Montserrat"/>
              </a:rPr>
              <a:t>Низкая</a:t>
            </a:r>
            <a:r>
              <a:rPr sz="1200" b="0" i="0">
                <a:solidFill>
                  <a:srgbClr val="1C1D22"/>
                </a:solidFill>
                <a:latin typeface="Montserrat"/>
              </a:rPr>
              <a:t> · 70 и </a:t>
            </a:r>
            <a:r>
              <a:rPr sz="1200" b="1" i="0">
                <a:solidFill>
                  <a:srgbClr val="1C1D22"/>
                </a:solidFill>
                <a:latin typeface="Montserrat"/>
              </a:rPr>
              <a:t>не видно с камер</a:t>
            </a:r>
            <a:r>
              <a:rPr sz="1200" b="0" i="0">
                <a:solidFill>
                  <a:srgbClr val="1C1D22"/>
                </a:solidFill>
                <a:latin typeface="Montserrat"/>
              </a:rPr>
              <a:t> · 138 — только лишняя техника</a:t>
            </a:r>
          </a:p>
        </p:txBody>
      </p:sp>
      <p:sp>
        <p:nvSpPr>
          <p:cNvPr id="567" name="Google Shape;567;p20"/>
          <p:cNvSpPr txBox="1"/>
          <p:nvPr>
            <p:ph idx="6" type="body"/>
          </p:nvPr>
        </p:nvSpPr>
        <p:spPr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52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Замечания экспертов учтены: монолит ниже 0 — как веха, фасад — по стадии на общем плане</a:t>
            </a:r>
          </a:p>
        </p:txBody>
      </p:sp>
      <p:sp>
        <p:nvSpPr>
          <p:cNvPr id="568" name="Google Shape;568;p20"/>
          <p:cNvSpPr txBox="1"/>
          <p:nvPr>
            <p:ph idx="4294967295" type="sldNum"/>
          </p:nvPr>
        </p:nvSpPr>
        <p:spPr>
          <a:xfrm>
            <a:off x="11633200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569" name="Google Shape;569;p20"/>
          <p:cNvSpPr txBox="1"/>
          <p:nvPr>
            <p:ph type="title"/>
          </p:nvPr>
        </p:nvSpPr>
        <p:spPr>
          <a:xfrm>
            <a:off x="525817" y="421226"/>
            <a:ext cx="5600700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non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</a:pPr>
            <a:r>
              <a:rPr sz="2000" b="1">
                <a:latin typeface="Montserrat"/>
              </a:rPr>
              <a:t>МЕТОДИКА «ЭТАП → ТЕХНИКА»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8"/>
          <p:cNvSpPr/>
          <p:nvPr/>
        </p:nvSpPr>
        <p:spPr>
          <a:xfrm>
            <a:off x="346075" y="324562"/>
            <a:ext cx="4617720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0" name="Google Shape;520;p18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533" name="Google Shape;533;p18"/>
          <p:cNvSpPr txBox="1"/>
          <p:nvPr>
            <p:ph type="title"/>
          </p:nvPr>
        </p:nvSpPr>
        <p:spPr>
          <a:xfrm>
            <a:off x="525817" y="421226"/>
            <a:ext cx="4617720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non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</a:pPr>
            <a:r>
              <a:rPr sz="2000" b="1">
                <a:latin typeface="Montserrat"/>
              </a:rPr>
              <a:t>10 ПРАВИЛ ОТКЛОНЕНИЙ</a:t>
            </a:r>
            <a:endParaRPr/>
          </a:p>
        </p:txBody>
      </p:sp>
      <p:graphicFrame>
        <p:nvGraphicFramePr>
          <p:cNvPr id="534" name="Table 533"/>
          <p:cNvGraphicFramePr>
            <a:graphicFrameLocks noGrp="1"/>
          </p:cNvGraphicFramePr>
          <p:nvPr/>
        </p:nvGraphicFramePr>
        <p:xfrm>
          <a:off x="411480" y="1188720"/>
          <a:ext cx="11384278" cy="43251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121496"/>
                <a:gridCol w="1147608"/>
                <a:gridCol w="1147608"/>
                <a:gridCol w="5967566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Отклонение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52097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1 снимок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52097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Серия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52097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Когда срабатывает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520978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</a:rPr>
                        <a:t>Неполный комплект техники · пример ТЗ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внимание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критично*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ведущая техника без парной на ≥ 30 % снимков: экскаватор без самосвалов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</a:rPr>
                        <a:t>Работы не ведутся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внимание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критично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этап с видимой техникой идёт, а зона пуста не меньше часа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</a:rPr>
                        <a:t>Нет необходимой техники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внимание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критично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нет техники для обязательной роли профиля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</a:rPr>
                        <a:t>Техники меньше плана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внимание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критично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в графике «2 × миксер», а одновременно в кадре один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</a:rPr>
                        <a:t>Техника не соответствует этапу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внимание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внимание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техника не нужна ни одному идущему этапу зоны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</a:rPr>
                        <a:t>Опережение графика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к сведению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к сведению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техника этапа зоны, который начнётся в ближайшие 21 день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</a:rPr>
                        <a:t>Этап не завершён в срок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внимание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внимание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техника этапа, закончившегося в последние 30 дней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</a:rPr>
                        <a:t>Техника в зоне без работ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внимание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внимание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в зоне по графику ничего не идёт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</a:rPr>
                        <a:t>Стадия не совпадает с планом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внимание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внимание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кадр общего плана: модель видит стадию раньше плановой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</a:rPr>
                        <a:t>Нет данных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к сведению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к сведению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темно, туман, засветка — это «нет данных», а не «нет техники»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</a:tr>
            </a:tbl>
          </a:graphicData>
        </a:graphic>
      </p:graphicFrame>
      <p:sp>
        <p:nvSpPr>
          <p:cNvPr id="535" name="TextBox 534"/>
          <p:cNvSpPr txBox="1"/>
          <p:nvPr/>
        </p:nvSpPr>
        <p:spPr>
          <a:xfrm>
            <a:off x="411480" y="5669280"/>
            <a:ext cx="1115568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100" b="0" i="0">
                <a:solidFill>
                  <a:srgbClr val="5E5873"/>
                </a:solidFill>
                <a:latin typeface="Montserrat"/>
              </a:rPr>
              <a:t>* критично, если парной техники не было весь день. Пороги асимметричны: «лишняя техника» — рамка ≥ 0,5, «техники нет» — засчитывается и ≥ 0,3; сомнительная рамка не создаёт тревоги ни в одну сторону.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16"/>
          <p:cNvSpPr/>
          <p:nvPr/>
        </p:nvSpPr>
        <p:spPr>
          <a:xfrm>
            <a:off x="346075" y="324562"/>
            <a:ext cx="3831335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9" name="Google Shape;479;p16"/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0" name="Google Shape;480;p16"/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1" name="Google Shape;481;p16"/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2" name="Google Shape;482;p16"/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83" name="Google Shape;483;p16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484" name="Google Shape;484;p16"/>
          <p:cNvSpPr txBox="1"/>
          <p:nvPr>
            <p:ph idx="1" type="body"/>
          </p:nvPr>
        </p:nvSpPr>
        <p:spPr>
          <a:xfrm>
            <a:off x="520913" y="2339783"/>
            <a:ext cx="2284071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1600"/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RF-DETR Large</a:t>
            </a:r>
          </a:p>
        </p:txBody>
      </p:sp>
      <p:sp>
        <p:nvSpPr>
          <p:cNvPr id="485" name="Google Shape;485;p16"/>
          <p:cNvSpPr txBox="1"/>
          <p:nvPr>
            <p:ph idx="2" type="body"/>
          </p:nvPr>
        </p:nvSpPr>
        <p:spPr>
          <a:xfrm>
            <a:off x="520913" y="2880360"/>
            <a:ext cx="2284071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lr>
                <a:srgbClr val="F2F2F2"/>
              </a:buClr>
              <a:buSzPts val="1452"/>
              <a:buNone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Трансформер-детектор на DINOv2. Версия v1 команды: 10 классов, mAP50 0,907, mAP50-95 0,767, precision 0,938.</a:t>
            </a:r>
          </a:p>
        </p:txBody>
      </p:sp>
      <p:sp>
        <p:nvSpPr>
          <p:cNvPr id="486" name="Google Shape;486;p16"/>
          <p:cNvSpPr txBox="1"/>
          <p:nvPr>
            <p:ph idx="3" type="body"/>
          </p:nvPr>
        </p:nvSpPr>
        <p:spPr>
          <a:xfrm>
            <a:off x="3457903" y="2373557"/>
            <a:ext cx="2337416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1600"/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Весь перечень ТЗ</a:t>
            </a:r>
          </a:p>
        </p:txBody>
      </p:sp>
      <p:sp>
        <p:nvSpPr>
          <p:cNvPr id="487" name="Google Shape;487;p16"/>
          <p:cNvSpPr txBox="1"/>
          <p:nvPr>
            <p:ph idx="4" type="body"/>
          </p:nvPr>
        </p:nvSpPr>
        <p:spPr>
          <a:xfrm>
            <a:off x="3457903" y="2880360"/>
            <a:ext cx="2337416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lr>
                <a:srgbClr val="F2F2F2"/>
              </a:buClr>
              <a:buSzPts val="1452"/>
              <a:buNone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v1 видит 6 из 8 типов ТЗ. v2 добавляет каток и грузовик по открытым датасетам организаторов: 12 классов, все 8 типов.</a:t>
            </a:r>
          </a:p>
        </p:txBody>
      </p:sp>
      <p:sp>
        <p:nvSpPr>
          <p:cNvPr id="488" name="Google Shape;488;p16"/>
          <p:cNvSpPr txBox="1"/>
          <p:nvPr>
            <p:ph idx="5" type="body"/>
          </p:nvPr>
        </p:nvSpPr>
        <p:spPr>
          <a:xfrm>
            <a:off x="6456363" y="2379657"/>
            <a:ext cx="2268537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1600"/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Общие планы</a:t>
            </a:r>
          </a:p>
        </p:txBody>
      </p:sp>
      <p:sp>
        <p:nvSpPr>
          <p:cNvPr id="489" name="Google Shape;489;p16"/>
          <p:cNvSpPr txBox="1"/>
          <p:nvPr>
            <p:ph idx="6" type="body"/>
          </p:nvPr>
        </p:nvSpPr>
        <p:spPr>
          <a:xfrm>
            <a:off x="6456363" y="2880360"/>
            <a:ext cx="2268537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lr>
                <a:srgbClr val="F2F2F2"/>
              </a:buClr>
              <a:buSzPts val="1452"/>
              <a:buNone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Кадр целиком + сетка 3×3 фрагментов: мелкая техника с высоты, слияние через NMS. Флаг камеры tiles.</a:t>
            </a:r>
          </a:p>
        </p:txBody>
      </p:sp>
      <p:sp>
        <p:nvSpPr>
          <p:cNvPr id="490" name="Google Shape;490;p16"/>
          <p:cNvSpPr txBox="1"/>
          <p:nvPr>
            <p:ph idx="7" type="body"/>
          </p:nvPr>
        </p:nvSpPr>
        <p:spPr>
          <a:xfrm>
            <a:off x="9407534" y="2339783"/>
            <a:ext cx="2263553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1600"/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Ноутбук без GPU</a:t>
            </a:r>
          </a:p>
        </p:txBody>
      </p:sp>
      <p:sp>
        <p:nvSpPr>
          <p:cNvPr id="491" name="Google Shape;491;p16"/>
          <p:cNvSpPr txBox="1"/>
          <p:nvPr>
            <p:ph idx="8" type="body"/>
          </p:nvPr>
        </p:nvSpPr>
        <p:spPr>
          <a:xfrm>
            <a:off x="9407534" y="2880360"/>
            <a:ext cx="2263553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Clr>
                <a:srgbClr val="F2F2F2"/>
              </a:buClr>
              <a:buSzPts val="1452"/>
              <a:buNone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Экспорт в ONNX, CPU без PyTorch; GPU — отдельный AI-сервис. Контроль качества кадра до детекции.</a:t>
            </a:r>
          </a:p>
        </p:txBody>
      </p:sp>
      <p:sp>
        <p:nvSpPr>
          <p:cNvPr id="492" name="Google Shape;492;p16"/>
          <p:cNvSpPr txBox="1"/>
          <p:nvPr>
            <p:ph type="title"/>
          </p:nvPr>
        </p:nvSpPr>
        <p:spPr>
          <a:xfrm>
            <a:off x="525817" y="421226"/>
            <a:ext cx="3831335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non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</a:pPr>
            <a:r>
              <a:rPr sz="2000" b="1">
                <a:latin typeface="Montserrat"/>
              </a:rPr>
              <a:t>ДЕТЕКЦИЯ ТЕХНИКИ</a:t>
            </a:r>
            <a:endParaRPr/>
          </a:p>
        </p:txBody>
      </p:sp>
      <p:sp>
        <p:nvSpPr>
          <p:cNvPr id="493" name="Google Shape;493;p16"/>
          <p:cNvSpPr txBox="1"/>
          <p:nvPr>
            <p:ph idx="16" type="body"/>
          </p:nvPr>
        </p:nvSpPr>
        <p:spPr>
          <a:xfrm>
            <a:off x="520913" y="1772416"/>
            <a:ext cx="771003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2800"/>
              <a:buNone/>
            </a:pPr>
            <a:r>
              <a:rPr sz="2000" b="1" i="0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494" name="Google Shape;494;p16"/>
          <p:cNvSpPr txBox="1"/>
          <p:nvPr>
            <p:ph idx="17" type="body"/>
          </p:nvPr>
        </p:nvSpPr>
        <p:spPr>
          <a:xfrm>
            <a:off x="3449944" y="1766200"/>
            <a:ext cx="771003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2800"/>
              <a:buNone/>
            </a:pPr>
            <a:r>
              <a:rPr sz="2000" b="1" i="0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495" name="Google Shape;495;p16"/>
          <p:cNvSpPr txBox="1"/>
          <p:nvPr>
            <p:ph idx="18" type="body"/>
          </p:nvPr>
        </p:nvSpPr>
        <p:spPr>
          <a:xfrm>
            <a:off x="6456363" y="1766043"/>
            <a:ext cx="771003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2800"/>
              <a:buNone/>
            </a:pPr>
            <a:r>
              <a:rPr sz="2000" b="1" i="0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496" name="Google Shape;496;p16"/>
          <p:cNvSpPr txBox="1"/>
          <p:nvPr>
            <p:ph idx="19" type="body"/>
          </p:nvPr>
        </p:nvSpPr>
        <p:spPr>
          <a:xfrm>
            <a:off x="9407534" y="1772416"/>
            <a:ext cx="771003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2800"/>
              <a:buNone/>
            </a:pPr>
            <a:r>
              <a:rPr sz="2000" b="1" i="0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8"/>
          <p:cNvSpPr/>
          <p:nvPr/>
        </p:nvSpPr>
        <p:spPr>
          <a:xfrm>
            <a:off x="346075" y="324562"/>
            <a:ext cx="5010912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0" name="Google Shape;520;p18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533" name="Google Shape;533;p18"/>
          <p:cNvSpPr txBox="1"/>
          <p:nvPr>
            <p:ph type="title"/>
          </p:nvPr>
        </p:nvSpPr>
        <p:spPr>
          <a:xfrm>
            <a:off x="525817" y="421226"/>
            <a:ext cx="5010912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non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</a:pPr>
            <a:r>
              <a:rPr sz="2000" b="1">
                <a:latin typeface="Montserrat"/>
              </a:rPr>
              <a:t>ОБОСНОВАНИЕ ТЕХНОЛОГИЙ</a:t>
            </a:r>
            <a:endParaRPr/>
          </a:p>
        </p:txBody>
      </p:sp>
      <p:graphicFrame>
        <p:nvGraphicFramePr>
          <p:cNvPr id="534" name="Table 533"/>
          <p:cNvGraphicFramePr>
            <a:graphicFrameLocks noGrp="1"/>
          </p:cNvGraphicFramePr>
          <p:nvPr/>
        </p:nvGraphicFramePr>
        <p:xfrm>
          <a:off x="411480" y="1188720"/>
          <a:ext cx="11384278" cy="460857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9791"/>
                <a:gridCol w="2570643"/>
                <a:gridCol w="6793844"/>
              </a:tblGrid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Задача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52097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Выбор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52097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Почему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52097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</a:rPr>
                        <a:t>Детекция техники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RF-DETR Large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по бенчмаркам авторов (COCO, RF100-VL) точнее YOLO при сопоставимой скорости; дообучается на малых датасетах; экспорт в ONNX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</a:rPr>
                        <a:t>Стадия и готовность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DINOv2 ViT-g + голова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большие модели заморожены, голова 2,6 млн параметров обучается за минуту; ошибка 0,9 п.п.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</a:rPr>
                        <a:t>Проверка кадров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Grounding DINO, Qwen3-VL 8B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объекты вне классов детектора и независимая проверка стадии на кадрах общего плана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</a:rPr>
                        <a:t>Методика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YAML + XLSX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эксперты меняют правила без программиста; версия правил в каждом отклонении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</a:rPr>
                        <a:t>Сервис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Python, FastAPI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один язык с ML-частью; Swagger из коробки; асинхронный приём снимков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</a:rPr>
                        <a:t>Данные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PostgreSQL / SQLite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JSONB для профилей и расчётов; SQLite — запуск на ноутбуке без установки СУБД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</a:rPr>
                        <a:t>Интерфейс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HTML + JS без сборки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отдаётся тем же сервисом; не нужен Node.js на стенде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</a:rPr>
                        <a:t>Развёртывание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Docker Compose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</a:rPr>
                        <a:t>одна команда; профиль gpu поднимает AI-сервис на видеокарте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DDD3EA"/>
                      </a:solidFill>
                    </a:lnL>
                    <a:lnR w="6350">
                      <a:solidFill>
                        <a:srgbClr val="DDD3EA"/>
                      </a:solidFill>
                    </a:lnR>
                    <a:lnT w="6350">
                      <a:solidFill>
                        <a:srgbClr val="DDD3EA"/>
                      </a:solidFill>
                    </a:lnT>
                    <a:lnB w="6350">
                      <a:solidFill>
                        <a:srgbClr val="DDD3EA"/>
                      </a:solidFill>
                    </a:lnB>
                    <a:solidFill>
                      <a:srgbClr val="F7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13"/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fmla="val 6926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6" name="Google Shape;446;p13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447" name="Google Shape;447;p13"/>
          <p:cNvSpPr txBox="1"/>
          <p:nvPr>
            <p:ph type="title"/>
          </p:nvPr>
        </p:nvSpPr>
        <p:spPr>
          <a:xfrm>
            <a:off x="533104" y="414049"/>
            <a:ext cx="5994696" cy="55206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non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600"/>
              <a:buFont typeface="Montserrat"/>
              <a:buNone/>
            </a:pPr>
            <a:r>
              <a:rPr sz="2000" b="1">
                <a:latin typeface="Montserrat"/>
              </a:rPr>
              <a:t>ПРОТОТИП: СВОДКА ПЛОЩАДКИ</a:t>
            </a:r>
            <a:endParaRPr sz="3600">
              <a:solidFill>
                <a:schemeClr val="lt1"/>
              </a:solidFill>
            </a:endParaRPr>
          </a:p>
        </p:txBody>
      </p:sp>
      <p:pic>
        <p:nvPicPr>
          <p:cNvPr id="448" name="Picture 447" descr="oko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3040"/>
            <a:ext cx="7607808" cy="4754880"/>
          </a:xfrm>
          <a:prstGeom prst="rect">
            <a:avLst/>
          </a:prstGeom>
        </p:spPr>
      </p:pic>
      <p:sp>
        <p:nvSpPr>
          <p:cNvPr id="449" name="TextBox 448"/>
          <p:cNvSpPr txBox="1"/>
          <p:nvPr/>
        </p:nvSpPr>
        <p:spPr>
          <a:xfrm>
            <a:off x="8275320" y="1600200"/>
            <a:ext cx="3429000" cy="4572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Что видит инженер утром</a:t>
            </a:r>
          </a:p>
          <a:p>
            <a:pPr marL="182880" indent="-182880">
              <a:spcBef>
                <a:spcPts val="0"/>
              </a:spcBef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KPI дня: снимки, критичные, внимание, нарушения, время обработки</a:t>
            </a:r>
          </a:p>
          <a:p>
            <a:pPr marL="182880" indent="-182880">
              <a:spcBef>
                <a:spcPts val="0"/>
              </a:spcBef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Доска зон: последний снимок с рамками, этапы зоны, нужная и видимая техника</a:t>
            </a:r>
          </a:p>
          <a:p>
            <a:pPr marL="182880" indent="-182880">
              <a:spcBef>
                <a:spcPts val="0"/>
              </a:spcBef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Справа — отклонения: зона, этап, снимки-доказательства, кнопки вердикта</a:t>
            </a:r>
          </a:p>
          <a:p>
            <a:pPr marL="182880" indent="-182880">
              <a:spcBef>
                <a:spcPts val="0"/>
              </a:spcBef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24.09.2026: 17 снимков, 8 отклонений, 2 критичных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13"/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fmla="val 6926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6" name="Google Shape;446;p13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447" name="Google Shape;447;p13"/>
          <p:cNvSpPr txBox="1"/>
          <p:nvPr>
            <p:ph type="title"/>
          </p:nvPr>
        </p:nvSpPr>
        <p:spPr>
          <a:xfrm>
            <a:off x="533104" y="414049"/>
            <a:ext cx="5994696" cy="55206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non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600"/>
              <a:buFont typeface="Montserrat"/>
              <a:buNone/>
            </a:pPr>
            <a:r>
              <a:rPr sz="2000" b="1">
                <a:latin typeface="Montserrat"/>
              </a:rPr>
              <a:t>ПРОТОТИП: ПРИМЕР ИЗ ТЗ</a:t>
            </a:r>
            <a:endParaRPr sz="3600">
              <a:solidFill>
                <a:schemeClr val="lt1"/>
              </a:solidFill>
            </a:endParaRPr>
          </a:p>
        </p:txBody>
      </p:sp>
      <p:pic>
        <p:nvPicPr>
          <p:cNvPr id="448" name="Picture 447" descr="oko_snapshot_ex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3040"/>
            <a:ext cx="7607808" cy="4754880"/>
          </a:xfrm>
          <a:prstGeom prst="rect">
            <a:avLst/>
          </a:prstGeom>
        </p:spPr>
      </p:pic>
      <p:sp>
        <p:nvSpPr>
          <p:cNvPr id="449" name="TextBox 448"/>
          <p:cNvSpPr txBox="1"/>
          <p:nvPr/>
        </p:nvSpPr>
        <p:spPr>
          <a:xfrm>
            <a:off x="8275320" y="1600200"/>
            <a:ext cx="3429000" cy="4572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Котлован, секция 1 · этап 12.3.1</a:t>
            </a:r>
          </a:p>
          <a:p>
            <a:pPr marL="182880" indent="-182880">
              <a:spcBef>
                <a:spcPts val="0"/>
              </a:spcBef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10:30 и 11:20 — экскаватор без самосвалов</a:t>
            </a:r>
          </a:p>
          <a:p>
            <a:pPr marL="182880" indent="-182880">
              <a:spcBef>
                <a:spcPts val="0"/>
              </a:spcBef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Ожидалось «экскаватор + самосвал», видно «экскаватор» — пара нарушена</a:t>
            </a:r>
          </a:p>
          <a:p>
            <a:pPr marL="182880" indent="-182880">
              <a:spcBef>
                <a:spcPts val="0"/>
              </a:spcBef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«Неполный комплект техники» · подтверждено серией</a:t>
            </a:r>
          </a:p>
          <a:p>
            <a:pPr marL="182880" indent="-182880">
              <a:spcBef>
                <a:spcPts val="0"/>
              </a:spcBef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«…грунт не вывозится, возможно снижение темпа работ»</a:t>
            </a:r>
          </a:p>
          <a:p>
            <a:pPr marL="182880" indent="-182880">
              <a:spcBef>
                <a:spcPts val="0"/>
              </a:spcBef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Инженер: «Подтвердить» → НР-2026-0001 с подрядчиком и сроком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14"/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fmla="val 6926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4" name="Google Shape;454;p14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455" name="Google Shape;455;p14"/>
          <p:cNvSpPr txBox="1"/>
          <p:nvPr>
            <p:ph type="title"/>
          </p:nvPr>
        </p:nvSpPr>
        <p:spPr>
          <a:xfrm>
            <a:off x="622040" y="496888"/>
            <a:ext cx="4781233" cy="4159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2000"/>
              <a:buFont typeface="Montserrat"/>
              <a:buNone/>
            </a:pPr>
            <a:r>
              <a:rPr sz="1800" b="1" i="0">
                <a:solidFill>
                  <a:srgbClr val="520978"/>
                </a:solidFill>
                <a:latin typeface="Montserrat"/>
              </a:rPr>
              <a:t>ПРОВЕРИТЬ СВОЙ СНИМОК</a:t>
            </a:r>
          </a:p>
        </p:txBody>
      </p:sp>
      <p:sp>
        <p:nvSpPr>
          <p:cNvPr id="457" name="Google Shape;457;p14"/>
          <p:cNvSpPr txBox="1"/>
          <p:nvPr>
            <p:ph idx="1" type="body"/>
          </p:nvPr>
        </p:nvSpPr>
        <p:spPr>
          <a:xfrm>
            <a:off x="595433" y="1143695"/>
            <a:ext cx="4807840" cy="47173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buClr>
                <a:srgbClr val="F2F2F2"/>
              </a:buClr>
              <a:buSzPts val="1400"/>
              <a:buNone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Загрузите снимок, выберите вид работ и технику по графику — и сразу получите:</a:t>
            </a:r>
          </a:p>
          <a:p>
            <a:pPr marL="182880" indent="-182880">
              <a:spcBef>
                <a:spcPts val="0"/>
              </a:spcBef>
              <a:spcAft>
                <a:spcPts val="600"/>
              </a:spcAft>
              <a:buClr>
                <a:srgbClr val="FF0053"/>
              </a:buClr>
              <a:buFont typeface="Arial"/>
              <a:buChar char="•"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рамки техники и контроль качества кадра</a:t>
            </a:r>
          </a:p>
          <a:p>
            <a:pPr marL="182880" indent="-182880">
              <a:spcBef>
                <a:spcPts val="0"/>
              </a:spcBef>
              <a:spcAft>
                <a:spcPts val="600"/>
              </a:spcAft>
              <a:buClr>
                <a:srgbClr val="FF0053"/>
              </a:buClr>
              <a:buFont typeface="Arial"/>
              <a:buChar char="•"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проверки методики: что нужно, что видно, пары</a:t>
            </a:r>
          </a:p>
          <a:p>
            <a:pPr marL="182880" indent="-182880">
              <a:spcBef>
                <a:spcPts val="0"/>
              </a:spcBef>
              <a:spcAft>
                <a:spcPts val="600"/>
              </a:spcAft>
              <a:buClr>
                <a:srgbClr val="FF0053"/>
              </a:buClr>
              <a:buFont typeface="Arial"/>
              <a:buChar char="•"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предупреждения с текстом и рекомендацией</a:t>
            </a:r>
          </a:p>
          <a:p>
            <a:pPr marL="0" indent="0">
              <a:spcBef>
                <a:spcPts val="0"/>
              </a:spcBef>
              <a:spcAft>
                <a:spcPts val="1000"/>
              </a:spcAft>
              <a:buNone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Тот же сценарий — в API (POST /api/analyze) и в консоли (app.cli check).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200" b="0" i="0">
                <a:solidFill>
                  <a:srgbClr val="5E5873"/>
                </a:solidFill>
                <a:latin typeface="Montserrat"/>
              </a:rPr>
              <a:t>Свои снимки распознаются с весами RF-DETR; без весов чужой снимок получает «нет данных», а не ложное «работы не ведутся».</a:t>
            </a:r>
          </a:p>
        </p:txBody>
      </p:sp>
      <p:pic>
        <p:nvPicPr>
          <p:cNvPr id="458" name="Picture 457" descr="oko_analy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17320"/>
            <a:ext cx="566928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13"/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fmla="val 6926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46" name="Google Shape;446;p13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lt1"/>
                </a:solidFill>
              </a:rPr>
              <a:t>‹#›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447" name="Google Shape;447;p13"/>
          <p:cNvSpPr txBox="1"/>
          <p:nvPr>
            <p:ph type="title"/>
          </p:nvPr>
        </p:nvSpPr>
        <p:spPr>
          <a:xfrm>
            <a:off x="533104" y="414049"/>
            <a:ext cx="5994696" cy="55206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non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600"/>
              <a:buFont typeface="Montserrat"/>
              <a:buNone/>
            </a:pPr>
            <a:r>
              <a:rPr sz="2000" b="1">
                <a:latin typeface="Montserrat"/>
              </a:rPr>
              <a:t>ОСВЕЩЁННОСТЬ, ПОГОДА, СЕЗОН</a:t>
            </a:r>
            <a:endParaRPr sz="3600">
              <a:solidFill>
                <a:schemeClr val="lt1"/>
              </a:solidFill>
            </a:endParaRPr>
          </a:p>
        </p:txBody>
      </p:sp>
      <p:pic>
        <p:nvPicPr>
          <p:cNvPr id="448" name="Picture 447" descr="c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2679192" cy="1508760"/>
          </a:xfrm>
          <a:prstGeom prst="rect">
            <a:avLst/>
          </a:prstGeom>
        </p:spPr>
      </p:pic>
      <p:sp>
        <p:nvSpPr>
          <p:cNvPr id="449" name="TextBox 448"/>
          <p:cNvSpPr txBox="1"/>
          <p:nvPr/>
        </p:nvSpPr>
        <p:spPr>
          <a:xfrm>
            <a:off x="566928" y="3035808"/>
            <a:ext cx="2679192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D22"/>
                </a:solidFill>
                <a:latin typeface="Montserrat"/>
              </a:rPr>
              <a:t>Дождь: грейдер и каток после окончания этапа → этап не завершён</a:t>
            </a:r>
          </a:p>
        </p:txBody>
      </p:sp>
      <p:pic>
        <p:nvPicPr>
          <p:cNvPr id="450" name="Picture 449" descr="c1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4136" y="1481328"/>
            <a:ext cx="2679192" cy="1508760"/>
          </a:xfrm>
          <a:prstGeom prst="rect">
            <a:avLst/>
          </a:prstGeom>
        </p:spPr>
      </p:pic>
      <p:sp>
        <p:nvSpPr>
          <p:cNvPr id="451" name="TextBox 450"/>
          <p:cNvSpPr txBox="1"/>
          <p:nvPr/>
        </p:nvSpPr>
        <p:spPr>
          <a:xfrm>
            <a:off x="3374136" y="3035808"/>
            <a:ext cx="2679192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D22"/>
                </a:solidFill>
                <a:latin typeface="Montserrat"/>
              </a:rPr>
              <a:t>Ночь без света → «нет данных», а не «работы не ведутся»</a:t>
            </a:r>
          </a:p>
        </p:txBody>
      </p:sp>
      <p:pic>
        <p:nvPicPr>
          <p:cNvPr id="452" name="Picture 451" descr="c2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344" y="1481328"/>
            <a:ext cx="2679192" cy="1508760"/>
          </a:xfrm>
          <a:prstGeom prst="rect">
            <a:avLst/>
          </a:prstGeom>
        </p:spPr>
      </p:pic>
      <p:sp>
        <p:nvSpPr>
          <p:cNvPr id="453" name="TextBox 452"/>
          <p:cNvSpPr txBox="1"/>
          <p:nvPr/>
        </p:nvSpPr>
        <p:spPr>
          <a:xfrm>
            <a:off x="6181344" y="3035808"/>
            <a:ext cx="2679192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D22"/>
                </a:solidFill>
                <a:latin typeface="Montserrat"/>
              </a:rPr>
              <a:t>Туман → «нет данных»</a:t>
            </a:r>
          </a:p>
        </p:txBody>
      </p:sp>
      <p:pic>
        <p:nvPicPr>
          <p:cNvPr id="454" name="Picture 453" descr="c2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8552" y="1481328"/>
            <a:ext cx="2679192" cy="1508760"/>
          </a:xfrm>
          <a:prstGeom prst="rect">
            <a:avLst/>
          </a:prstGeom>
        </p:spPr>
      </p:pic>
      <p:sp>
        <p:nvSpPr>
          <p:cNvPr id="455" name="TextBox 454"/>
          <p:cNvSpPr txBox="1"/>
          <p:nvPr/>
        </p:nvSpPr>
        <p:spPr>
          <a:xfrm>
            <a:off x="8988552" y="3035808"/>
            <a:ext cx="2679192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D22"/>
                </a:solidFill>
                <a:latin typeface="Montserrat"/>
              </a:rPr>
              <a:t>Общий план: мелкая техника, фрагменты 3×3</a:t>
            </a:r>
          </a:p>
        </p:txBody>
      </p:sp>
      <p:pic>
        <p:nvPicPr>
          <p:cNvPr id="456" name="Picture 455" descr="c3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3858768"/>
            <a:ext cx="2679192" cy="1508760"/>
          </a:xfrm>
          <a:prstGeom prst="rect">
            <a:avLst/>
          </a:prstGeom>
        </p:spPr>
      </p:pic>
      <p:sp>
        <p:nvSpPr>
          <p:cNvPr id="457" name="TextBox 456"/>
          <p:cNvSpPr txBox="1"/>
          <p:nvPr/>
        </p:nvSpPr>
        <p:spPr>
          <a:xfrm>
            <a:off x="566928" y="5413247"/>
            <a:ext cx="2679192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D22"/>
                </a:solidFill>
                <a:latin typeface="Montserrat"/>
              </a:rPr>
              <a:t>Зима, снег: миксер и башенный кран — по графику</a:t>
            </a:r>
          </a:p>
        </p:txBody>
      </p:sp>
      <p:pic>
        <p:nvPicPr>
          <p:cNvPr id="458" name="Picture 457" descr="c2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74136" y="3858768"/>
            <a:ext cx="2679192" cy="1508760"/>
          </a:xfrm>
          <a:prstGeom prst="rect">
            <a:avLst/>
          </a:prstGeom>
        </p:spPr>
      </p:pic>
      <p:sp>
        <p:nvSpPr>
          <p:cNvPr id="459" name="TextBox 458"/>
          <p:cNvSpPr txBox="1"/>
          <p:nvPr/>
        </p:nvSpPr>
        <p:spPr>
          <a:xfrm>
            <a:off x="3374136" y="5413247"/>
            <a:ext cx="2679192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D22"/>
                </a:solidFill>
                <a:latin typeface="Montserrat"/>
              </a:rPr>
              <a:t>Ночь с прожекторами: снимок годен</a:t>
            </a:r>
          </a:p>
        </p:txBody>
      </p:sp>
      <p:pic>
        <p:nvPicPr>
          <p:cNvPr id="460" name="Picture 459" descr="c2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1344" y="3858768"/>
            <a:ext cx="2679192" cy="1508760"/>
          </a:xfrm>
          <a:prstGeom prst="rect">
            <a:avLst/>
          </a:prstGeom>
        </p:spPr>
      </p:pic>
      <p:sp>
        <p:nvSpPr>
          <p:cNvPr id="461" name="TextBox 460"/>
          <p:cNvSpPr txBox="1"/>
          <p:nvPr/>
        </p:nvSpPr>
        <p:spPr>
          <a:xfrm>
            <a:off x="6181344" y="5413247"/>
            <a:ext cx="2679192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D22"/>
                </a:solidFill>
                <a:latin typeface="Montserrat"/>
              </a:rPr>
              <a:t>Общий план зимой: стадия S2 при плановой S3</a:t>
            </a:r>
          </a:p>
        </p:txBody>
      </p:sp>
      <p:pic>
        <p:nvPicPr>
          <p:cNvPr id="462" name="Picture 461" descr="c2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88552" y="3858768"/>
            <a:ext cx="2679192" cy="1508760"/>
          </a:xfrm>
          <a:prstGeom prst="rect">
            <a:avLst/>
          </a:prstGeom>
        </p:spPr>
      </p:pic>
      <p:sp>
        <p:nvSpPr>
          <p:cNvPr id="463" name="TextBox 462"/>
          <p:cNvSpPr txBox="1"/>
          <p:nvPr/>
        </p:nvSpPr>
        <p:spPr>
          <a:xfrm>
            <a:off x="8988552" y="5413247"/>
            <a:ext cx="2679192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1C1D22"/>
                </a:solidFill>
                <a:latin typeface="Montserrat"/>
              </a:rPr>
              <a:t>Самосвал без экскаватора → нет необходимой техники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21"/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fmla="val 8775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5" name="Google Shape;575;p21"/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fmla="val 8775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6" name="Google Shape;576;p21"/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fmla="val 8775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7" name="Google Shape;577;p21"/>
          <p:cNvSpPr/>
          <p:nvPr/>
        </p:nvSpPr>
        <p:spPr>
          <a:xfrm>
            <a:off x="346075" y="324562"/>
            <a:ext cx="4421124" cy="620919"/>
          </a:xfrm>
          <a:prstGeom prst="roundRect">
            <a:avLst>
              <a:gd fmla="val 18706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8" name="Google Shape;578;p21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579" name="Google Shape;579;p21"/>
          <p:cNvSpPr/>
          <p:nvPr>
            <p:ph idx="1" type="body"/>
          </p:nvPr>
        </p:nvSpPr>
        <p:spPr>
          <a:xfrm>
            <a:off x="6591637" y="1049727"/>
            <a:ext cx="4790314" cy="59781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1800"/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0,9 п.п.</a:t>
            </a:r>
          </a:p>
        </p:txBody>
      </p:sp>
      <p:sp>
        <p:nvSpPr>
          <p:cNvPr id="580" name="Google Shape;580;p21"/>
          <p:cNvSpPr txBox="1"/>
          <p:nvPr>
            <p:ph idx="2" type="body"/>
          </p:nvPr>
        </p:nvSpPr>
        <p:spPr>
          <a:xfrm>
            <a:off x="6591637" y="1649793"/>
            <a:ext cx="4790314" cy="7796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00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средняя ошибка готовности 0–100 % после монотонного сглаживания по видео</a:t>
            </a:r>
          </a:p>
        </p:txBody>
      </p:sp>
      <p:sp>
        <p:nvSpPr>
          <p:cNvPr id="581" name="Google Shape;581;p21"/>
          <p:cNvSpPr/>
          <p:nvPr>
            <p:ph idx="3" type="body"/>
          </p:nvPr>
        </p:nvSpPr>
        <p:spPr>
          <a:xfrm>
            <a:off x="6591637" y="2915797"/>
            <a:ext cx="4790314" cy="563519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1800"/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99,7 %</a:t>
            </a:r>
          </a:p>
        </p:txBody>
      </p:sp>
      <p:sp>
        <p:nvSpPr>
          <p:cNvPr id="582" name="Google Shape;582;p21"/>
          <p:cNvSpPr txBox="1"/>
          <p:nvPr>
            <p:ph idx="4" type="body"/>
          </p:nvPr>
        </p:nvSpPr>
        <p:spPr>
          <a:xfrm>
            <a:off x="6591637" y="3515862"/>
            <a:ext cx="4790314" cy="8690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00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точность стадии S1–S5 на 4 692 кадрах четырёх таймлапсов</a:t>
            </a:r>
          </a:p>
        </p:txBody>
      </p:sp>
      <p:sp>
        <p:nvSpPr>
          <p:cNvPr id="583" name="Google Shape;583;p21"/>
          <p:cNvSpPr/>
          <p:nvPr>
            <p:ph idx="5" type="body"/>
          </p:nvPr>
        </p:nvSpPr>
        <p:spPr>
          <a:xfrm>
            <a:off x="6591637" y="4871732"/>
            <a:ext cx="4790314" cy="59781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1800"/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Стадия ≠ план</a:t>
            </a:r>
          </a:p>
        </p:txBody>
      </p:sp>
      <p:sp>
        <p:nvSpPr>
          <p:cNvPr id="584" name="Google Shape;584;p21"/>
          <p:cNvSpPr txBox="1"/>
          <p:nvPr>
            <p:ph idx="6" type="body"/>
          </p:nvPr>
        </p:nvSpPr>
        <p:spPr>
          <a:xfrm>
            <a:off x="6591637" y="5471798"/>
            <a:ext cx="4790314" cy="8480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00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правило для фасада и отделки, где техники мало; стадию присылает AI-сервис ML-части</a:t>
            </a:r>
          </a:p>
        </p:txBody>
      </p:sp>
      <p:graphicFrame>
        <p:nvGraphicFramePr>
          <p:cNvPr id="585" name="Google Shape;585;p21"/>
          <p:cNvGraphicFramePr/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r:id="rId4"/>
          </a:graphicData>
        </a:graphic>
      </p:graphicFrame>
      <p:sp>
        <p:nvSpPr>
          <p:cNvPr id="586" name="Google Shape;586;p21"/>
          <p:cNvSpPr txBox="1"/>
          <p:nvPr>
            <p:ph type="title"/>
          </p:nvPr>
        </p:nvSpPr>
        <p:spPr>
          <a:xfrm>
            <a:off x="525817" y="421226"/>
            <a:ext cx="4421124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non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</a:pPr>
            <a:r>
              <a:rPr sz="2000" b="1">
                <a:latin typeface="Montserrat"/>
              </a:rPr>
              <a:t>ГОТОВНОСТЬ И СТАДИЯ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Rounded Rectangle 514"/>
          <p:cNvSpPr/>
          <p:nvPr/>
        </p:nvSpPr>
        <p:spPr>
          <a:xfrm>
            <a:off x="347472" y="320040"/>
            <a:ext cx="3634740" cy="621792"/>
          </a:xfrm>
          <a:prstGeom prst="roundRect">
            <a:avLst>
              <a:gd name="adj" fmla="val 30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1" name="Google Shape;501;p17"/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2" name="Google Shape;502;p17"/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3" name="Google Shape;503;p17"/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fmla="val 9821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4" name="Google Shape;504;p17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505" name="Google Shape;505;p17"/>
          <p:cNvSpPr txBox="1"/>
          <p:nvPr>
            <p:ph idx="1" type="body"/>
          </p:nvPr>
        </p:nvSpPr>
        <p:spPr>
          <a:xfrm>
            <a:off x="780565" y="2493074"/>
            <a:ext cx="2965634" cy="4236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1800"/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объектов · 4 000 камер</a:t>
            </a:r>
          </a:p>
        </p:txBody>
      </p:sp>
      <p:sp>
        <p:nvSpPr>
          <p:cNvPr id="506" name="Google Shape;506;p17"/>
          <p:cNvSpPr txBox="1"/>
          <p:nvPr>
            <p:ph idx="2" type="body"/>
          </p:nvPr>
        </p:nvSpPr>
        <p:spPr>
          <a:xfrm>
            <a:off x="780565" y="2926080"/>
            <a:ext cx="2965633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52"/>
              <a:buNone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Снимок раз в 5 минут: 13 снимков в секунду, 1,15 млн в сутки, ≈ 460 ГБ. Детекция — порядка 10 GPU уровня RTX 4090: каждый снимок распознаётся один раз.</a:t>
            </a:r>
          </a:p>
        </p:txBody>
      </p:sp>
      <p:sp>
        <p:nvSpPr>
          <p:cNvPr id="507" name="Google Shape;507;p17"/>
          <p:cNvSpPr txBox="1"/>
          <p:nvPr>
            <p:ph idx="3" type="body"/>
          </p:nvPr>
        </p:nvSpPr>
        <p:spPr>
          <a:xfrm>
            <a:off x="4623178" y="2493074"/>
            <a:ext cx="3034896" cy="4037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1800"/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модульный монолит</a:t>
            </a:r>
          </a:p>
        </p:txBody>
      </p:sp>
      <p:sp>
        <p:nvSpPr>
          <p:cNvPr id="508" name="Google Shape;508;p17"/>
          <p:cNvSpPr txBox="1"/>
          <p:nvPr>
            <p:ph idx="4" type="body"/>
          </p:nvPr>
        </p:nvSpPr>
        <p:spPr>
          <a:xfrm>
            <a:off x="4623178" y="2926080"/>
            <a:ext cx="3034896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52"/>
              <a:buNone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API и воркеры — один код. Очереди съёмки, пересчёта и уведомлений масштабируются горизонтально, AI-сервис — реплики на GPU за балансировщиком.</a:t>
            </a:r>
          </a:p>
        </p:txBody>
      </p:sp>
      <p:sp>
        <p:nvSpPr>
          <p:cNvPr id="509" name="Google Shape;509;p17"/>
          <p:cNvSpPr txBox="1"/>
          <p:nvPr>
            <p:ph idx="5" type="body"/>
          </p:nvPr>
        </p:nvSpPr>
        <p:spPr>
          <a:xfrm>
            <a:off x="8547959" y="2493074"/>
            <a:ext cx="2945464" cy="4039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1800"/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безопасность</a:t>
            </a:r>
          </a:p>
        </p:txBody>
      </p:sp>
      <p:sp>
        <p:nvSpPr>
          <p:cNvPr id="510" name="Google Shape;510;p17"/>
          <p:cNvSpPr txBox="1"/>
          <p:nvPr>
            <p:ph idx="6" type="body"/>
          </p:nvPr>
        </p:nvSpPr>
        <p:spPr>
          <a:xfrm>
            <a:off x="8547959" y="2926080"/>
            <a:ext cx="2945464" cy="2797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52"/>
              <a:buNone/>
            </a:pPr>
            <a:r>
              <a:rPr sz="1400" b="0" i="0">
                <a:solidFill>
                  <a:srgbClr val="1C1D22"/>
                </a:solidFill>
                <a:latin typeface="Montserrat"/>
              </a:rPr>
              <a:t>Роли на проект, приватное S3-хранилище с подписанными ссылками, размытие людей до сохранения, хранение в российском облаке.</a:t>
            </a:r>
          </a:p>
        </p:txBody>
      </p:sp>
      <p:sp>
        <p:nvSpPr>
          <p:cNvPr id="511" name="Google Shape;511;p17"/>
          <p:cNvSpPr txBox="1"/>
          <p:nvPr>
            <p:ph type="title"/>
          </p:nvPr>
        </p:nvSpPr>
        <p:spPr>
          <a:xfrm>
            <a:off x="525816" y="420624"/>
            <a:ext cx="3634740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non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</a:pPr>
            <a:r>
              <a:rPr sz="2000" b="1">
                <a:latin typeface="Montserrat"/>
              </a:rPr>
              <a:t>МАСШТАБИРОВАНИЕ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512" name="Google Shape;512;p17"/>
          <p:cNvSpPr txBox="1"/>
          <p:nvPr>
            <p:ph idx="16" type="body"/>
          </p:nvPr>
        </p:nvSpPr>
        <p:spPr>
          <a:xfrm>
            <a:off x="780565" y="1772415"/>
            <a:ext cx="2743200" cy="6011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4400"/>
              <a:buNone/>
            </a:pPr>
            <a:r>
              <a:rPr sz="2400" b="1" i="0">
                <a:solidFill>
                  <a:srgbClr val="FF0053"/>
                </a:solidFill>
                <a:latin typeface="Montserrat"/>
              </a:rPr>
              <a:t>500</a:t>
            </a:r>
          </a:p>
        </p:txBody>
      </p:sp>
      <p:sp>
        <p:nvSpPr>
          <p:cNvPr id="513" name="Google Shape;513;p17"/>
          <p:cNvSpPr txBox="1"/>
          <p:nvPr>
            <p:ph idx="17" type="body"/>
          </p:nvPr>
        </p:nvSpPr>
        <p:spPr>
          <a:xfrm>
            <a:off x="4615219" y="1766200"/>
            <a:ext cx="2743200" cy="5729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4400"/>
              <a:buNone/>
            </a:pPr>
            <a:r>
              <a:rPr sz="2400" b="1" i="0">
                <a:solidFill>
                  <a:srgbClr val="FF0053"/>
                </a:solidFill>
                <a:latin typeface="Montserrat"/>
              </a:rPr>
              <a:t>1 код</a:t>
            </a:r>
          </a:p>
        </p:txBody>
      </p:sp>
      <p:sp>
        <p:nvSpPr>
          <p:cNvPr id="514" name="Google Shape;514;p17"/>
          <p:cNvSpPr txBox="1"/>
          <p:nvPr>
            <p:ph idx="18" type="body"/>
          </p:nvPr>
        </p:nvSpPr>
        <p:spPr>
          <a:xfrm>
            <a:off x="8547959" y="1766043"/>
            <a:ext cx="2743200" cy="5731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4400"/>
              <a:buNone/>
            </a:pPr>
            <a:r>
              <a:rPr sz="2400" b="1" i="0">
                <a:solidFill>
                  <a:srgbClr val="FF0053"/>
                </a:solidFill>
                <a:latin typeface="Montserrat"/>
              </a:rPr>
              <a:t>152-ФЗ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25"/>
          <p:cNvSpPr/>
          <p:nvPr/>
        </p:nvSpPr>
        <p:spPr>
          <a:xfrm>
            <a:off x="346075" y="324562"/>
            <a:ext cx="3831335" cy="620919"/>
          </a:xfrm>
          <a:prstGeom prst="roundRect">
            <a:avLst>
              <a:gd fmla="val 18706" name="adj"/>
            </a:avLst>
          </a:prstGeom>
          <a:solidFill>
            <a:schemeClr val="accent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9" name="Google Shape;679;p25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680" name="Google Shape;680;p25"/>
          <p:cNvSpPr/>
          <p:nvPr>
            <p:ph idx="1" type="body"/>
          </p:nvPr>
        </p:nvSpPr>
        <p:spPr>
          <a:xfrm>
            <a:off x="346075" y="1458075"/>
            <a:ext cx="2526079" cy="1476687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1600"/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Детектор v2</a:t>
            </a:r>
          </a:p>
        </p:txBody>
      </p:sp>
      <p:sp>
        <p:nvSpPr>
          <p:cNvPr id="681" name="Google Shape;681;p25"/>
          <p:cNvSpPr txBox="1"/>
          <p:nvPr>
            <p:ph idx="2" type="body"/>
          </p:nvPr>
        </p:nvSpPr>
        <p:spPr>
          <a:xfrm>
            <a:off x="346075" y="1814077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00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каток и грузовик; метрики по условиям съёмки</a:t>
            </a:r>
          </a:p>
        </p:txBody>
      </p:sp>
      <p:sp>
        <p:nvSpPr>
          <p:cNvPr id="682" name="Google Shape;682;p25"/>
          <p:cNvSpPr/>
          <p:nvPr>
            <p:ph idx="3" type="body"/>
          </p:nvPr>
        </p:nvSpPr>
        <p:spPr>
          <a:xfrm>
            <a:off x="4832960" y="1458075"/>
            <a:ext cx="2526079" cy="1476687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1600"/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Пилот на объекте</a:t>
            </a:r>
          </a:p>
        </p:txBody>
      </p:sp>
      <p:sp>
        <p:nvSpPr>
          <p:cNvPr id="683" name="Google Shape;683;p25"/>
          <p:cNvSpPr txBox="1"/>
          <p:nvPr>
            <p:ph idx="4" type="body"/>
          </p:nvPr>
        </p:nvSpPr>
        <p:spPr>
          <a:xfrm>
            <a:off x="4832960" y="1814077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00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реальные камеры, эталонный кадр, калибровка порогов</a:t>
            </a:r>
          </a:p>
        </p:txBody>
      </p:sp>
      <p:sp>
        <p:nvSpPr>
          <p:cNvPr id="684" name="Google Shape;684;p25"/>
          <p:cNvSpPr/>
          <p:nvPr>
            <p:ph idx="5" type="body"/>
          </p:nvPr>
        </p:nvSpPr>
        <p:spPr>
          <a:xfrm>
            <a:off x="9330862" y="1458075"/>
            <a:ext cx="2526079" cy="1476687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1600"/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Детектор v3</a:t>
            </a:r>
          </a:p>
        </p:txBody>
      </p:sp>
      <p:sp>
        <p:nvSpPr>
          <p:cNvPr id="685" name="Google Shape;685;p25"/>
          <p:cNvSpPr txBox="1"/>
          <p:nvPr>
            <p:ph idx="6" type="body"/>
          </p:nvPr>
        </p:nvSpPr>
        <p:spPr>
          <a:xfrm>
            <a:off x="9330862" y="1814077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00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автобетононасос и асфальтоукладчик в парных правилах</a:t>
            </a:r>
          </a:p>
        </p:txBody>
      </p:sp>
      <p:sp>
        <p:nvSpPr>
          <p:cNvPr id="686" name="Google Shape;686;p25"/>
          <p:cNvSpPr/>
          <p:nvPr>
            <p:ph idx="7" type="body"/>
          </p:nvPr>
        </p:nvSpPr>
        <p:spPr>
          <a:xfrm>
            <a:off x="2593517" y="4825338"/>
            <a:ext cx="2526079" cy="1476687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1600"/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Темп и прогноз</a:t>
            </a:r>
          </a:p>
        </p:txBody>
      </p:sp>
      <p:sp>
        <p:nvSpPr>
          <p:cNvPr id="687" name="Google Shape;687;p25"/>
          <p:cNvSpPr txBox="1"/>
          <p:nvPr>
            <p:ph idx="8" type="body"/>
          </p:nvPr>
        </p:nvSpPr>
        <p:spPr>
          <a:xfrm>
            <a:off x="2593517" y="5181340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00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машино-часы, SPI, прогноз срыва срока по темпу</a:t>
            </a:r>
          </a:p>
        </p:txBody>
      </p:sp>
      <p:sp>
        <p:nvSpPr>
          <p:cNvPr id="688" name="Google Shape;688;p25"/>
          <p:cNvSpPr/>
          <p:nvPr>
            <p:ph idx="9" type="body"/>
          </p:nvPr>
        </p:nvSpPr>
        <p:spPr>
          <a:xfrm>
            <a:off x="7080402" y="4825338"/>
            <a:ext cx="2526079" cy="1476687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SzPts val="1600"/>
              <a:buNone/>
            </a:pPr>
            <a:r>
              <a:rPr sz="1400" b="1" i="0">
                <a:solidFill>
                  <a:srgbClr val="520978"/>
                </a:solidFill>
                <a:latin typeface="Montserrat"/>
              </a:rPr>
              <a:t>Интеграции</a:t>
            </a:r>
          </a:p>
        </p:txBody>
      </p:sp>
      <p:sp>
        <p:nvSpPr>
          <p:cNvPr id="689" name="Google Shape;689;p25"/>
          <p:cNvSpPr txBox="1"/>
          <p:nvPr>
            <p:ph idx="13" type="body"/>
          </p:nvPr>
        </p:nvSpPr>
        <p:spPr>
          <a:xfrm>
            <a:off x="7080402" y="5181340"/>
            <a:ext cx="2526079" cy="112068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00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график из систем управления проектами, уведомления РП, КПП с номерами</a:t>
            </a:r>
          </a:p>
        </p:txBody>
      </p:sp>
      <p:cxnSp>
        <p:nvCxnSpPr>
          <p:cNvPr id="690" name="Google Shape;690;p25"/>
          <p:cNvCxnSpPr/>
          <p:nvPr/>
        </p:nvCxnSpPr>
        <p:spPr>
          <a:xfrm>
            <a:off x="2065940" y="3860224"/>
            <a:ext cx="1332546" cy="0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91" name="Google Shape;691;p25"/>
          <p:cNvCxnSpPr/>
          <p:nvPr/>
        </p:nvCxnSpPr>
        <p:spPr>
          <a:xfrm>
            <a:off x="4312137" y="3862139"/>
            <a:ext cx="1332546" cy="0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92" name="Google Shape;692;p25"/>
          <p:cNvCxnSpPr/>
          <p:nvPr/>
        </p:nvCxnSpPr>
        <p:spPr>
          <a:xfrm>
            <a:off x="6558334" y="3862139"/>
            <a:ext cx="1332546" cy="0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93" name="Google Shape;693;p25"/>
          <p:cNvCxnSpPr/>
          <p:nvPr/>
        </p:nvCxnSpPr>
        <p:spPr>
          <a:xfrm>
            <a:off x="8780467" y="3862139"/>
            <a:ext cx="1332545" cy="0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94" name="Google Shape;694;p25"/>
          <p:cNvCxnSpPr/>
          <p:nvPr/>
        </p:nvCxnSpPr>
        <p:spPr>
          <a:xfrm>
            <a:off x="1609114" y="2934762"/>
            <a:ext cx="1" cy="573287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95" name="Google Shape;695;p25"/>
          <p:cNvCxnSpPr/>
          <p:nvPr/>
        </p:nvCxnSpPr>
        <p:spPr>
          <a:xfrm>
            <a:off x="3855312" y="4216228"/>
            <a:ext cx="1245" cy="575062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96" name="Google Shape;696;p25"/>
          <p:cNvCxnSpPr/>
          <p:nvPr/>
        </p:nvCxnSpPr>
        <p:spPr>
          <a:xfrm>
            <a:off x="6096000" y="2934762"/>
            <a:ext cx="5509" cy="573287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97" name="Google Shape;697;p25"/>
          <p:cNvCxnSpPr/>
          <p:nvPr/>
        </p:nvCxnSpPr>
        <p:spPr>
          <a:xfrm flipH="1">
            <a:off x="8343442" y="4216228"/>
            <a:ext cx="4264" cy="575062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98" name="Google Shape;698;p25"/>
          <p:cNvCxnSpPr/>
          <p:nvPr/>
        </p:nvCxnSpPr>
        <p:spPr>
          <a:xfrm>
            <a:off x="10593901" y="2934762"/>
            <a:ext cx="1" cy="573287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699" name="Google Shape;699;p25"/>
          <p:cNvSpPr/>
          <p:nvPr/>
        </p:nvSpPr>
        <p:spPr>
          <a:xfrm>
            <a:off x="1191126" y="3508049"/>
            <a:ext cx="874814" cy="708179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400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/>
          </a:p>
        </p:txBody>
      </p:sp>
      <p:sp>
        <p:nvSpPr>
          <p:cNvPr id="700" name="Google Shape;700;p25"/>
          <p:cNvSpPr/>
          <p:nvPr/>
        </p:nvSpPr>
        <p:spPr>
          <a:xfrm>
            <a:off x="3412397" y="3506136"/>
            <a:ext cx="874814" cy="708179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400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/>
          </a:p>
        </p:txBody>
      </p:sp>
      <p:sp>
        <p:nvSpPr>
          <p:cNvPr id="701" name="Google Shape;701;p25"/>
          <p:cNvSpPr/>
          <p:nvPr/>
        </p:nvSpPr>
        <p:spPr>
          <a:xfrm>
            <a:off x="5658594" y="3516255"/>
            <a:ext cx="874814" cy="708179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400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/>
          </a:p>
        </p:txBody>
      </p:sp>
      <p:sp>
        <p:nvSpPr>
          <p:cNvPr id="702" name="Google Shape;702;p25"/>
          <p:cNvSpPr/>
          <p:nvPr/>
        </p:nvSpPr>
        <p:spPr>
          <a:xfrm>
            <a:off x="7889752" y="3506135"/>
            <a:ext cx="874814" cy="708179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400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/>
          </a:p>
        </p:txBody>
      </p:sp>
      <p:sp>
        <p:nvSpPr>
          <p:cNvPr id="703" name="Google Shape;703;p25"/>
          <p:cNvSpPr/>
          <p:nvPr/>
        </p:nvSpPr>
        <p:spPr>
          <a:xfrm>
            <a:off x="10113012" y="3538626"/>
            <a:ext cx="874814" cy="708179"/>
          </a:xfrm>
          <a:prstGeom prst="roundRect">
            <a:avLst>
              <a:gd fmla="val 16667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400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/>
          </a:p>
        </p:txBody>
      </p:sp>
      <p:sp>
        <p:nvSpPr>
          <p:cNvPr id="704" name="Google Shape;704;p25"/>
          <p:cNvSpPr txBox="1"/>
          <p:nvPr>
            <p:ph type="title"/>
          </p:nvPr>
        </p:nvSpPr>
        <p:spPr>
          <a:xfrm>
            <a:off x="525817" y="421226"/>
            <a:ext cx="3831335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non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</a:pPr>
            <a:r>
              <a:rPr sz="2000" b="1">
                <a:latin typeface="Montserrat"/>
              </a:rPr>
              <a:t>РАЗВИТИЕ РЕШЕНИЯ</a:t>
            </a:r>
            <a:endParaRPr/>
          </a:p>
        </p:txBody>
      </p:sp>
      <p:sp>
        <p:nvSpPr>
          <p:cNvPr id="705" name="Google Shape;705;p25"/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fmla="val 10884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06" name="Google Shape;706;p25"/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fmla="val 10884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07" name="Google Shape;707;p25"/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fmla="val 10884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08" name="Google Shape;708;p25"/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fmla="val 10884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09" name="Google Shape;709;p25"/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fmla="val 10884" name="adj"/>
            </a:avLst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0"/>
          <p:cNvSpPr/>
          <p:nvPr/>
        </p:nvSpPr>
        <p:spPr>
          <a:xfrm>
            <a:off x="346075" y="324562"/>
            <a:ext cx="5207508" cy="620919"/>
          </a:xfrm>
          <a:prstGeom prst="roundRect">
            <a:avLst>
              <a:gd fmla="val 18706" name="adj"/>
            </a:avLst>
          </a:prstGeom>
          <a:solidFill>
            <a:schemeClr val="accent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6" name="Google Shape;556;p20"/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fmla="val 16339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7" name="Google Shape;557;p20"/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fmla="val 16339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8" name="Google Shape;558;p20"/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fmla="val 16339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9" name="Google Shape;559;p20"/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fmla="val 16339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0" name="Google Shape;560;p20"/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fmla="val 16339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1" name="Google Shape;561;p20"/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fmla="val 2919" name="adj"/>
            </a:avLst>
          </a:prstGeom>
          <a:solidFill>
            <a:schemeClr val="lt1"/>
          </a:solidFill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2" name="Google Shape;562;p20"/>
          <p:cNvSpPr txBox="1"/>
          <p:nvPr>
            <p:ph idx="1" type="body"/>
          </p:nvPr>
        </p:nvSpPr>
        <p:spPr>
          <a:xfrm>
            <a:off x="623887" y="1732103"/>
            <a:ext cx="4734175" cy="41393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rgbClr val="F2F2F2"/>
              </a:buClr>
              <a:buSzPts val="3600"/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Три роли камер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FF0053"/>
              </a:buClr>
              <a:buFont typeface="Arial"/>
              <a:buChar char="•"/>
            </a:pPr>
            <a:r>
              <a:rPr sz="1300" b="1" i="0">
                <a:solidFill>
                  <a:srgbClr val="1C1D22"/>
                </a:solidFill>
                <a:latin typeface="Montserrat"/>
              </a:rPr>
              <a:t>Общий план</a:t>
            </a:r>
            <a:r>
              <a:rPr sz="1300" b="0" i="0">
                <a:solidFill>
                  <a:srgbClr val="1C1D22"/>
                </a:solidFill>
                <a:latin typeface="Montserrat"/>
              </a:rPr>
              <a:t> — мачта или кран, 15–40 м: стадия и готовность, вся площадка; 1–2 на объект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FF0053"/>
              </a:buClr>
              <a:buFont typeface="Arial"/>
              <a:buChar char="•"/>
            </a:pPr>
            <a:r>
              <a:rPr sz="1300" b="1" i="0">
                <a:solidFill>
                  <a:srgbClr val="1C1D22"/>
                </a:solidFill>
                <a:latin typeface="Montserrat"/>
              </a:rPr>
              <a:t>Зональная</a:t>
            </a:r>
            <a:r>
              <a:rPr sz="1300" b="0" i="0">
                <a:solidFill>
                  <a:srgbClr val="1C1D22"/>
                </a:solidFill>
                <a:latin typeface="Montserrat"/>
              </a:rPr>
              <a:t> — 6–10 м: уверенный счёт техники в захватке; по одной на захватку с техникой</a:t>
            </a:r>
          </a:p>
          <a:p>
            <a:pPr marL="182880" indent="-182880" algn="l">
              <a:spcBef>
                <a:spcPts val="0"/>
              </a:spcBef>
              <a:spcAft>
                <a:spcPts val="1200"/>
              </a:spcAft>
              <a:buClr>
                <a:srgbClr val="FF0053"/>
              </a:buClr>
              <a:buFont typeface="Arial"/>
              <a:buChar char="•"/>
            </a:pPr>
            <a:r>
              <a:rPr sz="1300" b="1" i="0">
                <a:solidFill>
                  <a:srgbClr val="1C1D22"/>
                </a:solidFill>
                <a:latin typeface="Montserrat"/>
              </a:rPr>
              <a:t>Въезд</a:t>
            </a:r>
            <a:r>
              <a:rPr sz="1300" b="0" i="0">
                <a:solidFill>
                  <a:srgbClr val="1C1D22"/>
                </a:solidFill>
                <a:latin typeface="Montserrat"/>
              </a:rPr>
              <a:t> — КПП: учёт техники, в развитии — сверка номеров</a:t>
            </a:r>
          </a:p>
          <a:p>
            <a:pPr marL="0" indent="0" algn="l">
              <a:spcBef>
                <a:spcPts val="0"/>
              </a:spcBef>
              <a:spcAft>
                <a:spcPts val="1200"/>
              </a:spcAft>
              <a:buNone/>
            </a:pPr>
            <a:r>
              <a:rPr sz="1400" b="1" i="0">
                <a:solidFill>
                  <a:srgbClr val="FF0053"/>
                </a:solidFill>
                <a:latin typeface="Montserrat"/>
              </a:rPr>
              <a:t>Типовой жилой дом 1–2 га: 6–9 камер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520978"/>
                </a:solidFill>
                <a:latin typeface="Montserrat"/>
              </a:rPr>
              <a:t>Приёмка камеры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FF0053"/>
              </a:buClr>
              <a:buFont typeface="Arial"/>
              <a:buChar char="•"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тестовый снимок с техникой даёт рамки с уверенностью выше 0,5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FF0053"/>
              </a:buClr>
              <a:buFont typeface="Arial"/>
              <a:buChar char="•"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время на кадре совпадает с NTP, ночной снимок проходит контроль качества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FF0053"/>
              </a:buClr>
              <a:buFont typeface="Arial"/>
              <a:buChar char="•"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эталонный кадр сохранён — сдвиг камеры виден сразу</a:t>
            </a:r>
          </a:p>
        </p:txBody>
      </p:sp>
      <p:sp>
        <p:nvSpPr>
          <p:cNvPr id="563" name="Google Shape;563;p20"/>
          <p:cNvSpPr txBox="1"/>
          <p:nvPr>
            <p:ph idx="2" type="body"/>
          </p:nvPr>
        </p:nvSpPr>
        <p:spPr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52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Наклон 20–45°; техника от 120–150 px по ширине при 1080p, мельче — фрагменты 3×3</a:t>
            </a:r>
          </a:p>
        </p:txBody>
      </p:sp>
      <p:sp>
        <p:nvSpPr>
          <p:cNvPr id="564" name="Google Shape;564;p20"/>
          <p:cNvSpPr txBox="1"/>
          <p:nvPr>
            <p:ph idx="3" type="body"/>
          </p:nvPr>
        </p:nvSpPr>
        <p:spPr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52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Зональные ≥ 1080p, общий план ≥ 4 Мп; снимок раз в 5 минут</a:t>
            </a:r>
          </a:p>
        </p:txBody>
      </p:sp>
      <p:sp>
        <p:nvSpPr>
          <p:cNvPr id="565" name="Google Shape;565;p20"/>
          <p:cNvSpPr txBox="1"/>
          <p:nvPr>
            <p:ph idx="4" type="body"/>
          </p:nvPr>
        </p:nvSpPr>
        <p:spPr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52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NTP и дата на кадре; ИК-подсветка там, где работают ночью</a:t>
            </a:r>
          </a:p>
        </p:txBody>
      </p:sp>
      <p:sp>
        <p:nvSpPr>
          <p:cNvPr id="566" name="Google Shape;566;p20"/>
          <p:cNvSpPr txBox="1"/>
          <p:nvPr>
            <p:ph idx="5" type="body"/>
          </p:nvPr>
        </p:nvSpPr>
        <p:spPr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52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Зона целиком в кадре и названа так же, как захватка в графике</a:t>
            </a:r>
          </a:p>
        </p:txBody>
      </p:sp>
      <p:sp>
        <p:nvSpPr>
          <p:cNvPr id="567" name="Google Shape;567;p20"/>
          <p:cNvSpPr txBox="1"/>
          <p:nvPr>
            <p:ph idx="6" type="body"/>
          </p:nvPr>
        </p:nvSpPr>
        <p:spPr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1452"/>
              <a:buNone/>
            </a:pPr>
            <a:r>
              <a:rPr sz="1200" b="0" i="0">
                <a:solidFill>
                  <a:srgbClr val="1C1D22"/>
                </a:solidFill>
                <a:latin typeface="Montserrat"/>
              </a:rPr>
              <a:t>IP66/67, WDR, не против солнца; эталонный кадр при приёмке</a:t>
            </a:r>
          </a:p>
        </p:txBody>
      </p:sp>
      <p:sp>
        <p:nvSpPr>
          <p:cNvPr id="568" name="Google Shape;568;p20"/>
          <p:cNvSpPr txBox="1"/>
          <p:nvPr>
            <p:ph idx="4294967295" type="sldNum"/>
          </p:nvPr>
        </p:nvSpPr>
        <p:spPr>
          <a:xfrm>
            <a:off x="11633200" y="6356350"/>
            <a:ext cx="558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accent5"/>
                </a:solidFill>
              </a:rPr>
              <a:t>‹#›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569" name="Google Shape;569;p20"/>
          <p:cNvSpPr txBox="1"/>
          <p:nvPr>
            <p:ph type="title"/>
          </p:nvPr>
        </p:nvSpPr>
        <p:spPr>
          <a:xfrm>
            <a:off x="525817" y="421226"/>
            <a:ext cx="5207508" cy="3761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non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997"/>
              <a:buFont typeface="Montserrat"/>
              <a:buNone/>
            </a:pPr>
            <a:r>
              <a:rPr sz="2000" b="1">
                <a:latin typeface="Montserrat"/>
              </a:rPr>
              <a:t>РЕКОМЕНДАЦИИ ПО КАМЕРАМ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12"/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37" name="Google Shape;437;p12"/>
          <p:cNvSpPr txBox="1"/>
          <p:nvPr>
            <p:ph idx="1" type="body"/>
          </p:nvPr>
        </p:nvSpPr>
        <p:spPr>
          <a:xfrm>
            <a:off x="521133" y="1263123"/>
            <a:ext cx="5574868" cy="49376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1400"/>
              </a:spcAft>
              <a:buClr>
                <a:srgbClr val="F2F2F2"/>
              </a:buClr>
              <a:buSzPts val="1452"/>
              <a:buNone/>
            </a:pPr>
            <a:r>
              <a:rPr sz="1400" b="1" i="0">
                <a:solidFill>
                  <a:srgbClr val="1C1D22"/>
                </a:solidFill>
                <a:latin typeface="Montserrat"/>
              </a:rPr>
              <a:t>Снимок → техника → этап графика → предупреждение с доказательствами → нарушение.</a:t>
            </a:r>
          </a:p>
          <a:p>
            <a:pPr marL="182880" indent="-182880">
              <a:spcBef>
                <a:spcPts val="0"/>
              </a:spcBef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Прототип: docker compose up --build → localhost:8000</a:t>
            </a:r>
          </a:p>
          <a:p>
            <a:pPr marL="182880" indent="-182880">
              <a:spcBef>
                <a:spcPts val="0"/>
              </a:spcBef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Код: github.com/Antonoof/Intelligent-construction-site-monitoring-system</a:t>
            </a:r>
          </a:p>
          <a:p>
            <a:pPr marL="182880" indent="-182880">
              <a:spcBef>
                <a:spcPts val="0"/>
              </a:spcBef>
              <a:spcAft>
                <a:spcPts val="800"/>
              </a:spcAft>
              <a:buClr>
                <a:srgbClr val="FF0053"/>
              </a:buClr>
              <a:buFont typeface="Arial"/>
              <a:buChar char="•"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Документация: docs/ОКО_документация.pdf, краткое описание, рекомендации по камерам</a:t>
            </a:r>
          </a:p>
          <a:p>
            <a:pPr marL="182880" indent="-182880">
              <a:spcBef>
                <a:spcPts val="0"/>
              </a:spcBef>
              <a:spcAft>
                <a:spcPts val="1400"/>
              </a:spcAft>
              <a:buClr>
                <a:srgbClr val="FF0053"/>
              </a:buClr>
              <a:buFont typeface="Arial"/>
              <a:buChar char="•"/>
            </a:pPr>
            <a:r>
              <a:rPr sz="1300" b="0" i="0">
                <a:solidFill>
                  <a:srgbClr val="1C1D22"/>
                </a:solidFill>
                <a:latin typeface="Montserrat"/>
              </a:rPr>
              <a:t>Лендинг и экономика: garyanikin.github.io/oko-landing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0053"/>
                </a:solidFill>
                <a:latin typeface="Montserrat"/>
              </a:rPr>
              <a:t>Спасибо!</a:t>
            </a:r>
          </a:p>
        </p:txBody>
      </p:sp>
      <p:sp>
        <p:nvSpPr>
          <p:cNvPr id="438" name="Google Shape;438;p12"/>
          <p:cNvSpPr txBox="1"/>
          <p:nvPr>
            <p:ph idx="12" type="sldNum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439" name="Google Shape;439;p12"/>
          <p:cNvSpPr txBox="1"/>
          <p:nvPr>
            <p:ph type="title"/>
          </p:nvPr>
        </p:nvSpPr>
        <p:spPr>
          <a:xfrm>
            <a:off x="527444" y="395288"/>
            <a:ext cx="5574868" cy="42572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Clr>
                <a:srgbClr val="F2F2F2"/>
              </a:buClr>
              <a:buSzPts val="2000"/>
              <a:buFont typeface="Montserrat"/>
              <a:buNone/>
            </a:pPr>
            <a:r>
              <a:rPr sz="2800" b="1" i="0">
                <a:solidFill>
                  <a:srgbClr val="520978"/>
                </a:solidFill>
                <a:latin typeface="Montserrat"/>
              </a:rPr>
              <a:t>ОКО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2023-05-15T07:36:23Z</dcterms:created>
  <dc:creator>Анастасия Юшкова</dc:creator>
</cp:coreProperties>
</file>